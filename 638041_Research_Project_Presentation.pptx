
<file path=[Content_Types].xml><?xml version="1.0" encoding="utf-8"?>
<Types xmlns="http://schemas.openxmlformats.org/package/2006/content-types"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Open with the motivation: PDEs are not abstract equations only; they are how we describe systems that evolve in space and time.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" name="Google Shape;23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Tell the audience why PDEs matter before showing model details: weather, fluids, heat, waves.</a:t>
            </a:r>
            <a:endParaRPr/>
          </a:p>
        </p:txBody>
      </p:sp>
      <p:sp>
        <p:nvSpPr>
          <p:cNvPr id="24" name="Google Shape;24;p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Frame the study as a test of whether text provides useful context, not just as adding embeddings.</a:t>
            </a:r>
            <a:endParaRPr/>
          </a:p>
        </p:txBody>
      </p:sp>
      <p:sp>
        <p:nvSpPr>
          <p:cNvPr id="46" name="Google Shape;46;p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Use this slide to make the OOD setting visible: the model learns from two worlds and is tested on a third.</a:t>
            </a:r>
            <a:endParaRPr/>
          </a:p>
        </p:txBody>
      </p:sp>
      <p:sp>
        <p:nvSpPr>
          <p:cNvPr id="61" name="Google Shape;61;p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Talk about data properties: spatial grid, temporal rollout, channels, and OOD shift.</a:t>
            </a:r>
            <a:endParaRPr/>
          </a:p>
        </p:txBody>
      </p:sp>
      <p:sp>
        <p:nvSpPr>
          <p:cNvPr id="78" name="Google Shape;78;p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Explain text as structured information, not prose for its own sake.</a:t>
            </a:r>
            <a:endParaRPr/>
          </a:p>
        </p:txBody>
      </p:sp>
      <p:sp>
        <p:nvSpPr>
          <p:cNvPr id="95" name="Google Shape;95;p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Keep the experimental setup as a simple process instead of a dense table.</a:t>
            </a:r>
            <a:endParaRPr/>
          </a:p>
        </p:txBody>
      </p:sp>
      <p:sp>
        <p:nvSpPr>
          <p:cNvPr id="111" name="Google Shape;111;p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Describe UNet as a natural baseline for grids: local patterns first, broader context later.</a:t>
            </a:r>
            <a:endParaRPr/>
          </a:p>
        </p:txBody>
      </p:sp>
      <p:sp>
        <p:nvSpPr>
          <p:cNvPr id="125" name="Google Shape;125;p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slide is split from the former text-heavy methodology slide: focus only on where language enters.</a:t>
            </a:r>
            <a:endParaRPr/>
          </a:p>
        </p:txBody>
      </p:sp>
      <p:sp>
        <p:nvSpPr>
          <p:cNvPr id="139" name="Google Shape;13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slide separates the second visual from the old Slide 9, reducing clutter.</a:t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Use this slide to set up the result: attention can be powerful, but this task rewards stable local rollouts.</a:t>
            </a:r>
            <a:endParaRPr/>
          </a:p>
        </p:txBody>
      </p:sp>
      <p:sp>
        <p:nvSpPr>
          <p:cNvPr id="163" name="Google Shape;16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table stays on the left and the interpretation is on the right, as requested.</a:t>
            </a:r>
            <a:endParaRPr/>
          </a:p>
        </p:txBody>
      </p:sp>
      <p:sp>
        <p:nvSpPr>
          <p:cNvPr id="184" name="Google Shape;184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First qualitative slide only compares the two UNet variants to avoid crowding.</a:t>
            </a:r>
            <a:endParaRPr/>
          </a:p>
        </p:txBody>
      </p:sp>
      <p:sp>
        <p:nvSpPr>
          <p:cNvPr id="219" name="Google Shape;219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Second qualitative slide gives the two AViT plots their own space.</a:t>
            </a:r>
            <a:endParaRPr/>
          </a:p>
        </p:txBody>
      </p:sp>
      <p:sp>
        <p:nvSpPr>
          <p:cNvPr id="234" name="Google Shape;234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8" name="Google Shape;24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Interpretation should be framed as evidence-based: not that text is useless, but that this fusion strategy is too weak.</a:t>
            </a:r>
            <a:endParaRPr/>
          </a:p>
        </p:txBody>
      </p:sp>
      <p:sp>
        <p:nvSpPr>
          <p:cNvPr id="249" name="Google Shape;249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Focus on future design, not only on negative results.</a:t>
            </a:r>
            <a:endParaRPr/>
          </a:p>
        </p:txBody>
      </p:sp>
      <p:sp>
        <p:nvSpPr>
          <p:cNvPr id="264" name="Google Shape;264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" name="Google Shape;280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End with a constructive takeaway: text has not failed; this form of fusion is the weak link.</a:t>
            </a:r>
            <a:endParaRPr/>
          </a:p>
        </p:txBody>
      </p:sp>
      <p:sp>
        <p:nvSpPr>
          <p:cNvPr id="281" name="Google Shape;281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Use this as a closing and credits slide.</a:t>
            </a:r>
            <a:endParaRPr/>
          </a:p>
        </p:txBody>
      </p:sp>
      <p:sp>
        <p:nvSpPr>
          <p:cNvPr id="300" name="Google Shape;300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2.gif"/><Relationship Id="rId5" Type="http://schemas.openxmlformats.org/officeDocument/2006/relationships/image" Target="../media/image13.gif"/><Relationship Id="rId6" Type="http://schemas.openxmlformats.org/officeDocument/2006/relationships/image" Target="../media/image12.gif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35.png"/><Relationship Id="rId5" Type="http://schemas.openxmlformats.org/officeDocument/2006/relationships/image" Target="../media/image3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3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1.png"/><Relationship Id="rId5" Type="http://schemas.openxmlformats.org/officeDocument/2006/relationships/image" Target="../media/image34.png"/><Relationship Id="rId6" Type="http://schemas.openxmlformats.org/officeDocument/2006/relationships/image" Target="../media/image3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mnt/data/net_images/turbulence_mit.png" id="16" name="Google Shape;16;p3"/>
          <p:cNvPicPr preferRelativeResize="0"/>
          <p:nvPr/>
        </p:nvPicPr>
        <p:blipFill rotWithShape="1">
          <a:blip r:embed="rId3">
            <a:alphaModFix/>
          </a:blip>
          <a:srcRect b="0" l="11998" r="6269" t="0"/>
          <a:stretch/>
        </p:blipFill>
        <p:spPr>
          <a:xfrm>
            <a:off x="6583680" y="0"/>
            <a:ext cx="560527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/>
          <p:nvPr/>
        </p:nvSpPr>
        <p:spPr>
          <a:xfrm>
            <a:off x="6510528" y="0"/>
            <a:ext cx="45600" cy="6858000"/>
          </a:xfrm>
          <a:prstGeom prst="rect">
            <a:avLst/>
          </a:prstGeom>
          <a:solidFill>
            <a:srgbClr val="00A6B2"/>
          </a:solidFill>
          <a:ln cap="flat" cmpd="sng" w="12700">
            <a:solidFill>
              <a:srgbClr val="00A6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594360" y="868680"/>
            <a:ext cx="5349300" cy="219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3500"/>
              <a:buFont typeface="Play"/>
              <a:buNone/>
            </a:pPr>
            <a:r>
              <a:rPr lang="en-US" sz="3500">
                <a:solidFill>
                  <a:srgbClr val="00A6B2"/>
                </a:solidFill>
              </a:rPr>
              <a:t>Integrating Text-Based</a:t>
            </a:r>
            <a:endParaRPr sz="3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3500"/>
              <a:buFont typeface="Play"/>
              <a:buNone/>
            </a:pPr>
            <a:r>
              <a:rPr lang="en-US" sz="3500">
                <a:solidFill>
                  <a:srgbClr val="00A6B2"/>
                </a:solidFill>
              </a:rPr>
              <a:t>Problem Descriptions with</a:t>
            </a:r>
            <a:endParaRPr sz="3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3500"/>
              <a:buFont typeface="Play"/>
              <a:buNone/>
            </a:pPr>
            <a:r>
              <a:rPr lang="en-US" sz="3500">
                <a:solidFill>
                  <a:srgbClr val="00A6B2"/>
                </a:solidFill>
              </a:rPr>
              <a:t>Data-driven PDE Solvers</a:t>
            </a:r>
            <a:endParaRPr sz="3500">
              <a:solidFill>
                <a:schemeClr val="dk1"/>
              </a:solidFill>
            </a:endParaRPr>
          </a:p>
        </p:txBody>
      </p:sp>
      <p:pic>
        <p:nvPicPr>
          <p:cNvPr descr="/mnt/data/ppt_media/ppt/media/image1.png" id="19" name="Google Shape;1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372" y="4572000"/>
            <a:ext cx="1489898" cy="109727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/>
          <p:nvPr/>
        </p:nvSpPr>
        <p:spPr>
          <a:xfrm>
            <a:off x="594360" y="5806440"/>
            <a:ext cx="42063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02.06.2026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Roll Number: 638041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411480" y="228600"/>
            <a:ext cx="10515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Why work with PDEs?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27" name="Google Shape;2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798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" name="Google Shape;28;p4"/>
          <p:cNvCxnSpPr/>
          <p:nvPr/>
        </p:nvCxnSpPr>
        <p:spPr>
          <a:xfrm>
            <a:off x="411480" y="685800"/>
            <a:ext cx="1138440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" name="Google Shape;29;p4"/>
          <p:cNvSpPr/>
          <p:nvPr/>
        </p:nvSpPr>
        <p:spPr>
          <a:xfrm>
            <a:off x="11430000" y="6446520"/>
            <a:ext cx="320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411480" y="6446520"/>
            <a:ext cx="3200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594350" y="914400"/>
            <a:ext cx="93963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2800"/>
              <a:buFont typeface="Play"/>
              <a:buNone/>
            </a:pPr>
            <a:r>
              <a:rPr b="1" lang="en-US" sz="2800">
                <a:solidFill>
                  <a:srgbClr val="0A2F3A"/>
                </a:solidFill>
              </a:rPr>
              <a:t>PDEs are the language of evolving physical systems.</a:t>
            </a:r>
            <a:endParaRPr sz="2800">
              <a:solidFill>
                <a:schemeClr val="dk1"/>
              </a:solidFill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777240" y="4754880"/>
            <a:ext cx="105156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They connect equations, data, and forecasts.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The challenge: fast prediction outside the training distribution.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594360" y="1759081"/>
            <a:ext cx="507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73150" spcFirstLastPara="1" rIns="73150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7A8B94"/>
                </a:solidFill>
                <a:latin typeface="Arial"/>
                <a:ea typeface="Arial"/>
                <a:cs typeface="Arial"/>
                <a:sym typeface="Arial"/>
              </a:rPr>
              <a:t>weather &amp; climate</a:t>
            </a:r>
            <a:endParaRPr/>
          </a:p>
        </p:txBody>
      </p:sp>
      <p:sp>
        <p:nvSpPr>
          <p:cNvPr id="34" name="Google Shape;34;p4"/>
          <p:cNvSpPr txBox="1"/>
          <p:nvPr/>
        </p:nvSpPr>
        <p:spPr>
          <a:xfrm>
            <a:off x="6263640" y="1759081"/>
            <a:ext cx="507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73150" spcFirstLastPara="1" rIns="73150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7A8B94"/>
                </a:solidFill>
                <a:latin typeface="Arial"/>
                <a:ea typeface="Arial"/>
                <a:cs typeface="Arial"/>
                <a:sym typeface="Arial"/>
              </a:rPr>
              <a:t>fluids &amp; turbulence</a:t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594360" y="2079121"/>
            <a:ext cx="2469000" cy="2423100"/>
          </a:xfrm>
          <a:prstGeom prst="rect">
            <a:avLst/>
          </a:prstGeom>
          <a:noFill/>
          <a:ln cap="flat" cmpd="sng" w="13950">
            <a:solidFill>
              <a:srgbClr val="C6E9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3154680" y="2079121"/>
            <a:ext cx="2469000" cy="2423100"/>
          </a:xfrm>
          <a:prstGeom prst="rect">
            <a:avLst/>
          </a:prstGeom>
          <a:noFill/>
          <a:ln cap="flat" cmpd="sng" w="13950">
            <a:solidFill>
              <a:srgbClr val="C6E9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6263640" y="2079121"/>
            <a:ext cx="2469000" cy="2423100"/>
          </a:xfrm>
          <a:prstGeom prst="rect">
            <a:avLst/>
          </a:prstGeom>
          <a:noFill/>
          <a:ln cap="flat" cmpd="sng" w="13950">
            <a:solidFill>
              <a:srgbClr val="C6E9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8823960" y="2079121"/>
            <a:ext cx="2469000" cy="2423100"/>
          </a:xfrm>
          <a:prstGeom prst="rect">
            <a:avLst/>
          </a:prstGeom>
          <a:noFill/>
          <a:ln cap="flat" cmpd="sng" w="13950">
            <a:solidFill>
              <a:srgbClr val="C6E9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noaa_day1.png" id="39" name="Google Shape;3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4360" y="2400011"/>
            <a:ext cx="2468880" cy="17813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" name="Google Shape;40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77540" y="2079121"/>
            <a:ext cx="2423160" cy="24231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" name="Google Shape;41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2079121"/>
            <a:ext cx="2423160" cy="24231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" name="Google Shape;42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846820" y="2079121"/>
            <a:ext cx="2423160" cy="2423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5"/>
          <p:cNvSpPr/>
          <p:nvPr/>
        </p:nvSpPr>
        <p:spPr>
          <a:xfrm>
            <a:off x="411480" y="228600"/>
            <a:ext cx="10515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Research question as a story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49" name="Google Shape;4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798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0" name="Google Shape;50;p5"/>
          <p:cNvCxnSpPr/>
          <p:nvPr/>
        </p:nvCxnSpPr>
        <p:spPr>
          <a:xfrm>
            <a:off x="411480" y="685800"/>
            <a:ext cx="1138440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" name="Google Shape;51;p5"/>
          <p:cNvSpPr/>
          <p:nvPr/>
        </p:nvSpPr>
        <p:spPr>
          <a:xfrm>
            <a:off x="11430000" y="6446520"/>
            <a:ext cx="320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11480" y="6446520"/>
            <a:ext cx="3200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ppt_media/ppt/media/image17.png" id="53" name="Google Shape;5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53774" y="1005840"/>
            <a:ext cx="3043491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5"/>
          <p:cNvSpPr/>
          <p:nvPr/>
        </p:nvSpPr>
        <p:spPr>
          <a:xfrm>
            <a:off x="685800" y="1051560"/>
            <a:ext cx="74982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3400"/>
              <a:buFont typeface="Play"/>
              <a:buNone/>
            </a:pPr>
            <a:r>
              <a:rPr b="1" lang="en-US" sz="3400">
                <a:solidFill>
                  <a:srgbClr val="0A2F3A"/>
                </a:solidFill>
              </a:rPr>
              <a:t>Can language help a solver understand a new PDE world?</a:t>
            </a:r>
            <a:endParaRPr sz="3400">
              <a:solidFill>
                <a:schemeClr val="dk1"/>
              </a:solidFill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777240" y="2788920"/>
            <a:ext cx="6217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Numerical fields  →  model  →  OOD rollout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777240" y="3364992"/>
            <a:ext cx="7315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Text description  →  context  →  better generalization?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822960" y="4663440"/>
            <a:ext cx="9966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Hypothesis: PDE descriptions add context the raw tensors may miss.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Test: compare baseline, conditioned UNet, and AViT rollouts.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"/>
          <p:cNvSpPr/>
          <p:nvPr/>
        </p:nvSpPr>
        <p:spPr>
          <a:xfrm>
            <a:off x="411480" y="228600"/>
            <a:ext cx="10515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The data: two training worlds, one unseen world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64" name="Google Shape;6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798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5" name="Google Shape;65;p6"/>
          <p:cNvCxnSpPr/>
          <p:nvPr/>
        </p:nvCxnSpPr>
        <p:spPr>
          <a:xfrm>
            <a:off x="411480" y="685800"/>
            <a:ext cx="1138440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" name="Google Shape;66;p6"/>
          <p:cNvSpPr/>
          <p:nvPr/>
        </p:nvSpPr>
        <p:spPr>
          <a:xfrm>
            <a:off x="11430000" y="6446520"/>
            <a:ext cx="320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411480" y="6446520"/>
            <a:ext cx="3200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594360" y="4160520"/>
            <a:ext cx="34746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training: turbulent radiative layer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4343400" y="4160520"/>
            <a:ext cx="34746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training: active matter (GIF)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6"/>
          <p:cNvSpPr/>
          <p:nvPr/>
        </p:nvSpPr>
        <p:spPr>
          <a:xfrm>
            <a:off x="8092440" y="4160520"/>
            <a:ext cx="34746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OOD test: Helmholtz staircase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6"/>
          <p:cNvSpPr/>
          <p:nvPr/>
        </p:nvSpPr>
        <p:spPr>
          <a:xfrm>
            <a:off x="822960" y="5074920"/>
            <a:ext cx="10424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Training combines different PDE families.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Testing asks the model to cross a distribution shift.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ctive_matter.gif" id="72" name="Google Shape;7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17720" y="1051560"/>
            <a:ext cx="2926080" cy="29260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6" title="density_normalized.gif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0722" y="2199984"/>
            <a:ext cx="3488346" cy="116043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6" title="pressure_normalize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970593" y="2315408"/>
            <a:ext cx="3718320" cy="9295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"/>
          <p:cNvSpPr/>
          <p:nvPr/>
        </p:nvSpPr>
        <p:spPr>
          <a:xfrm>
            <a:off x="411480" y="228600"/>
            <a:ext cx="10515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What makes this data hard?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81" name="Google Shape;8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798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2" name="Google Shape;82;p7"/>
          <p:cNvCxnSpPr/>
          <p:nvPr/>
        </p:nvCxnSpPr>
        <p:spPr>
          <a:xfrm>
            <a:off x="411480" y="685800"/>
            <a:ext cx="1138440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" name="Google Shape;83;p7"/>
          <p:cNvSpPr/>
          <p:nvPr/>
        </p:nvSpPr>
        <p:spPr>
          <a:xfrm>
            <a:off x="11430000" y="6446520"/>
            <a:ext cx="320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411480" y="6446520"/>
            <a:ext cx="3200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ppt_media/image18.gif.png" id="85" name="Google Shape;85;p7"/>
          <p:cNvPicPr preferRelativeResize="0"/>
          <p:nvPr/>
        </p:nvPicPr>
        <p:blipFill rotWithShape="1">
          <a:blip r:embed="rId4">
            <a:alphaModFix/>
          </a:blip>
          <a:srcRect b="0" l="0" r="22881" t="0"/>
          <a:stretch/>
        </p:blipFill>
        <p:spPr>
          <a:xfrm>
            <a:off x="685800" y="987552"/>
            <a:ext cx="4663440" cy="20116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ppt_media/image20.gif.png" id="86" name="Google Shape;86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12280" y="960120"/>
            <a:ext cx="2743200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7"/>
          <p:cNvSpPr/>
          <p:nvPr/>
        </p:nvSpPr>
        <p:spPr>
          <a:xfrm>
            <a:off x="777240" y="3337560"/>
            <a:ext cx="2926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Grid: 128 × 384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777240" y="3840480"/>
            <a:ext cx="393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Time: 4 inputs → 1 prediction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5943600" y="3840480"/>
            <a:ext cx="4389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Fields: multi-channel tensors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7"/>
          <p:cNvSpPr/>
          <p:nvPr/>
        </p:nvSpPr>
        <p:spPr>
          <a:xfrm>
            <a:off x="5943600" y="4572000"/>
            <a:ext cx="4755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Shift: new equation + new structure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7"/>
          <p:cNvSpPr/>
          <p:nvPr/>
        </p:nvSpPr>
        <p:spPr>
          <a:xfrm>
            <a:off x="868680" y="5623560"/>
            <a:ext cx="102414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Small local errors can accumulate during rollout.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The model must preserve spatial structure and dynamics.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8"/>
          <p:cNvSpPr/>
          <p:nvPr/>
        </p:nvSpPr>
        <p:spPr>
          <a:xfrm>
            <a:off x="411480" y="228600"/>
            <a:ext cx="10515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PDE descriptions become structured context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98" name="Google Shape;9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798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9" name="Google Shape;99;p8"/>
          <p:cNvCxnSpPr/>
          <p:nvPr/>
        </p:nvCxnSpPr>
        <p:spPr>
          <a:xfrm>
            <a:off x="411480" y="685800"/>
            <a:ext cx="1138440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8"/>
          <p:cNvSpPr/>
          <p:nvPr/>
        </p:nvSpPr>
        <p:spPr>
          <a:xfrm>
            <a:off x="11430000" y="6446520"/>
            <a:ext cx="320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411480" y="6446520"/>
            <a:ext cx="3200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685800" y="1005850"/>
            <a:ext cx="5727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2400"/>
              <a:buFont typeface="Play"/>
              <a:buNone/>
            </a:pPr>
            <a:r>
              <a:rPr b="1" lang="en-US" sz="2400">
                <a:solidFill>
                  <a:srgbClr val="0A2F3A"/>
                </a:solidFill>
              </a:rPr>
              <a:t>Four layers in the text description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103" name="Google Shape;103;p8"/>
          <p:cNvSpPr/>
          <p:nvPr/>
        </p:nvSpPr>
        <p:spPr>
          <a:xfrm>
            <a:off x="1680875" y="1815350"/>
            <a:ext cx="8325900" cy="2252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>
                <a:solidFill>
                  <a:srgbClr val="0000FF"/>
                </a:solidFill>
              </a:rPr>
              <a:t>Turbulent radiative layer in two spatial dimensions governed by the compressible Navier–Stokes equations coupled with thermal energy transport.</a:t>
            </a:r>
            <a:r>
              <a:rPr lang="en-US" sz="1300">
                <a:solidFill>
                  <a:schemeClr val="dk1"/>
                </a:solidFill>
              </a:rPr>
              <a:t> </a:t>
            </a:r>
            <a:r>
              <a:rPr lang="en-US" sz="1300">
                <a:solidFill>
                  <a:srgbClr val="274E13"/>
                </a:solidFill>
              </a:rPr>
              <a:t>The lower boundary injects heat, the upper boundary removes heat through radiative cooling, and the horizontal boundaries are periodic.</a:t>
            </a:r>
            <a:r>
              <a:rPr lang="en-US" sz="1300">
                <a:solidFill>
                  <a:schemeClr val="dk1"/>
                </a:solidFill>
              </a:rPr>
              <a:t> </a:t>
            </a:r>
            <a:r>
              <a:rPr lang="en-US" sz="1300">
                <a:solidFill>
                  <a:srgbClr val="990000"/>
                </a:solidFill>
              </a:rPr>
              <a:t>The system includes nonlinear advection, viscous diffusion, and buoyancy forcing driven by vertical temperature gradients.</a:t>
            </a:r>
            <a:r>
              <a:rPr lang="en-US" sz="1300">
                <a:solidFill>
                  <a:schemeClr val="dk1"/>
                </a:solidFill>
              </a:rPr>
              <a:t> </a:t>
            </a:r>
            <a:r>
              <a:rPr lang="en-US" sz="1300">
                <a:solidFill>
                  <a:srgbClr val="9900FF"/>
                </a:solidFill>
              </a:rPr>
              <a:t>The flow is convection driven and turbulence dominated, developing multi-scale vortices, thermal plumes, chaotic velocity structures, intermittent turbulent mixing, and filamentary temperature fields.</a:t>
            </a:r>
            <a:endParaRPr sz="1300">
              <a:solidFill>
                <a:srgbClr val="9900FF"/>
              </a:solidFill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04" name="Google Shape;104;p8"/>
          <p:cNvSpPr/>
          <p:nvPr/>
        </p:nvSpPr>
        <p:spPr>
          <a:xfrm>
            <a:off x="2191843" y="4748863"/>
            <a:ext cx="1490400" cy="9990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900"/>
              <a:buFont typeface="Arial"/>
              <a:buNone/>
            </a:pPr>
            <a:r>
              <a:rPr lang="en-US" sz="1900">
                <a:solidFill>
                  <a:srgbClr val="0A2F3A"/>
                </a:solidFill>
              </a:rPr>
              <a:t>Basic description</a:t>
            </a:r>
            <a:endParaRPr/>
          </a:p>
        </p:txBody>
      </p:sp>
      <p:sp>
        <p:nvSpPr>
          <p:cNvPr id="105" name="Google Shape;105;p8"/>
          <p:cNvSpPr/>
          <p:nvPr/>
        </p:nvSpPr>
        <p:spPr>
          <a:xfrm>
            <a:off x="4148368" y="4766400"/>
            <a:ext cx="1490400" cy="999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900"/>
              <a:buFont typeface="Arial"/>
              <a:buNone/>
            </a:pPr>
            <a:r>
              <a:rPr lang="en-US" sz="1900">
                <a:solidFill>
                  <a:srgbClr val="0A2F3A"/>
                </a:solidFill>
              </a:rPr>
              <a:t>Boundary conditions</a:t>
            </a:r>
            <a:endParaRPr/>
          </a:p>
        </p:txBody>
      </p:sp>
      <p:sp>
        <p:nvSpPr>
          <p:cNvPr id="106" name="Google Shape;106;p8"/>
          <p:cNvSpPr/>
          <p:nvPr/>
        </p:nvSpPr>
        <p:spPr>
          <a:xfrm>
            <a:off x="6104893" y="4766400"/>
            <a:ext cx="1490400" cy="999000"/>
          </a:xfrm>
          <a:prstGeom prst="roundRect">
            <a:avLst>
              <a:gd fmla="val 16667" name="adj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900">
                <a:solidFill>
                  <a:srgbClr val="0A2F3A"/>
                </a:solidFill>
              </a:rPr>
              <a:t>Operator coefficients</a:t>
            </a:r>
            <a:endParaRPr/>
          </a:p>
        </p:txBody>
      </p:sp>
      <p:sp>
        <p:nvSpPr>
          <p:cNvPr id="107" name="Google Shape;107;p8"/>
          <p:cNvSpPr/>
          <p:nvPr/>
        </p:nvSpPr>
        <p:spPr>
          <a:xfrm>
            <a:off x="8005393" y="4766400"/>
            <a:ext cx="1490400" cy="999000"/>
          </a:xfrm>
          <a:prstGeom prst="roundRect">
            <a:avLst>
              <a:gd fmla="val 16667" name="adj"/>
            </a:avLst>
          </a:prstGeom>
          <a:solidFill>
            <a:srgbClr val="B4A7D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0A2F3A"/>
                </a:solidFill>
              </a:rPr>
              <a:t>Qualitative behavior</a:t>
            </a:r>
            <a:endParaRPr sz="1900">
              <a:solidFill>
                <a:srgbClr val="0A2F3A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9"/>
          <p:cNvSpPr/>
          <p:nvPr/>
        </p:nvSpPr>
        <p:spPr>
          <a:xfrm>
            <a:off x="411480" y="228600"/>
            <a:ext cx="10515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Experimental setup: one pipeline, three model choices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114" name="Google Shape;11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798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5" name="Google Shape;115;p9"/>
          <p:cNvCxnSpPr/>
          <p:nvPr/>
        </p:nvCxnSpPr>
        <p:spPr>
          <a:xfrm>
            <a:off x="411480" y="685800"/>
            <a:ext cx="1138440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" name="Google Shape;116;p9"/>
          <p:cNvSpPr/>
          <p:nvPr/>
        </p:nvSpPr>
        <p:spPr>
          <a:xfrm>
            <a:off x="11430000" y="6446520"/>
            <a:ext cx="320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9"/>
          <p:cNvSpPr/>
          <p:nvPr/>
        </p:nvSpPr>
        <p:spPr>
          <a:xfrm>
            <a:off x="411480" y="6446520"/>
            <a:ext cx="3200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9"/>
          <p:cNvSpPr/>
          <p:nvPr/>
        </p:nvSpPr>
        <p:spPr>
          <a:xfrm>
            <a:off x="731525" y="1234455"/>
            <a:ext cx="5029200" cy="206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3000"/>
              <a:buFont typeface="Play"/>
              <a:buNone/>
            </a:pPr>
            <a:r>
              <a:rPr b="1" lang="en-US" sz="2400">
                <a:solidFill>
                  <a:srgbClr val="0A2F3A"/>
                </a:solidFill>
              </a:rPr>
              <a:t>Input fields + optional text context</a:t>
            </a:r>
            <a:endParaRPr sz="24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3000"/>
              <a:buFont typeface="Play"/>
              <a:buNone/>
            </a:pPr>
            <a:r>
              <a:rPr b="1" lang="en-US" sz="2400">
                <a:solidFill>
                  <a:srgbClr val="0A2F3A"/>
                </a:solidFill>
              </a:rPr>
              <a:t>→ neural PDE solver</a:t>
            </a:r>
            <a:endParaRPr sz="24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3000"/>
              <a:buFont typeface="Play"/>
              <a:buNone/>
            </a:pPr>
            <a:r>
              <a:rPr b="1" lang="en-US" sz="2400">
                <a:solidFill>
                  <a:srgbClr val="0A2F3A"/>
                </a:solidFill>
              </a:rPr>
              <a:t>→ multi-step rollout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119" name="Google Shape;119;p9"/>
          <p:cNvSpPr/>
          <p:nvPr/>
        </p:nvSpPr>
        <p:spPr>
          <a:xfrm>
            <a:off x="822960" y="3703320"/>
            <a:ext cx="102414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UNetClassic: numerical fields only.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UNetClassicConditioned: fields + text embedding.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AViT: transformer-style baseline with axial attention.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9"/>
          <p:cNvSpPr/>
          <p:nvPr/>
        </p:nvSpPr>
        <p:spPr>
          <a:xfrm>
            <a:off x="822960" y="5715000"/>
            <a:ext cx="10515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Optimizer: AdamW    •    Schedule: warmup + cosine    •    Evaluation: rollout loss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67350" y="1234450"/>
            <a:ext cx="4196856" cy="28042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0"/>
          <p:cNvSpPr/>
          <p:nvPr/>
        </p:nvSpPr>
        <p:spPr>
          <a:xfrm>
            <a:off x="411480" y="228600"/>
            <a:ext cx="10515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Methodology: UNet learns local-to-global structure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128" name="Google Shape;12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798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9" name="Google Shape;129;p10"/>
          <p:cNvCxnSpPr/>
          <p:nvPr/>
        </p:nvCxnSpPr>
        <p:spPr>
          <a:xfrm>
            <a:off x="411480" y="685800"/>
            <a:ext cx="1138440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0" name="Google Shape;130;p10"/>
          <p:cNvSpPr/>
          <p:nvPr/>
        </p:nvSpPr>
        <p:spPr>
          <a:xfrm>
            <a:off x="11430000" y="6446520"/>
            <a:ext cx="320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0"/>
          <p:cNvSpPr/>
          <p:nvPr/>
        </p:nvSpPr>
        <p:spPr>
          <a:xfrm>
            <a:off x="411480" y="6446520"/>
            <a:ext cx="3200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ppt_media/ppt/media/image8.png" id="132" name="Google Shape;132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050" y="1005851"/>
            <a:ext cx="7106898" cy="4462626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0"/>
          <p:cNvSpPr/>
          <p:nvPr/>
        </p:nvSpPr>
        <p:spPr>
          <a:xfrm>
            <a:off x="7680960" y="1188720"/>
            <a:ext cx="3566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2300"/>
              <a:buFont typeface="Play"/>
              <a:buNone/>
            </a:pPr>
            <a:r>
              <a:rPr b="1" lang="en-US" sz="2300">
                <a:solidFill>
                  <a:srgbClr val="0A2F3A"/>
                </a:solidFill>
              </a:rPr>
              <a:t>Baseline idea</a:t>
            </a:r>
            <a:endParaRPr sz="2300">
              <a:solidFill>
                <a:schemeClr val="dk1"/>
              </a:solidFill>
            </a:endParaRPr>
          </a:p>
        </p:txBody>
      </p:sp>
      <p:sp>
        <p:nvSpPr>
          <p:cNvPr id="134" name="Google Shape;134;p10"/>
          <p:cNvSpPr/>
          <p:nvPr/>
        </p:nvSpPr>
        <p:spPr>
          <a:xfrm>
            <a:off x="7726680" y="1828800"/>
            <a:ext cx="34746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Convolutions capture local PDE patterns.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Downsampling expands context.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Upsampling reconstructs the next field.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0"/>
          <p:cNvSpPr/>
          <p:nvPr/>
        </p:nvSpPr>
        <p:spPr>
          <a:xfrm>
            <a:off x="7726680" y="4023360"/>
            <a:ext cx="3383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Why it fits PDE data: spatial neighborhoods matter.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1"/>
          <p:cNvSpPr/>
          <p:nvPr/>
        </p:nvSpPr>
        <p:spPr>
          <a:xfrm>
            <a:off x="411480" y="228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Methodology: adding language to the UNet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142" name="Google Shape;14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800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" name="Google Shape;143;p11"/>
          <p:cNvCxnSpPr/>
          <p:nvPr/>
        </p:nvCxnSpPr>
        <p:spPr>
          <a:xfrm>
            <a:off x="411480" y="685800"/>
            <a:ext cx="1138428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4" name="Google Shape;144;p11"/>
          <p:cNvSpPr/>
          <p:nvPr/>
        </p:nvSpPr>
        <p:spPr>
          <a:xfrm>
            <a:off x="11430000" y="6446520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1"/>
          <p:cNvSpPr/>
          <p:nvPr/>
        </p:nvSpPr>
        <p:spPr>
          <a:xfrm>
            <a:off x="411480" y="644652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ppt_media/ppt/media/image19.png" id="146" name="Google Shape;146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2125" y="1467150"/>
            <a:ext cx="6780201" cy="3429826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1"/>
          <p:cNvSpPr/>
          <p:nvPr/>
        </p:nvSpPr>
        <p:spPr>
          <a:xfrm>
            <a:off x="7543800" y="118872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2300"/>
              <a:buFont typeface="Play"/>
              <a:buNone/>
            </a:pPr>
            <a:r>
              <a:rPr b="1" lang="en-US" sz="2300">
                <a:solidFill>
                  <a:srgbClr val="0A2F3A"/>
                </a:solidFill>
              </a:rPr>
              <a:t>What changes?</a:t>
            </a:r>
            <a:endParaRPr sz="2300">
              <a:solidFill>
                <a:schemeClr val="dk1"/>
              </a:solidFill>
            </a:endParaRPr>
          </a:p>
        </p:txBody>
      </p:sp>
      <p:sp>
        <p:nvSpPr>
          <p:cNvPr id="148" name="Google Shape;148;p11"/>
          <p:cNvSpPr/>
          <p:nvPr/>
        </p:nvSpPr>
        <p:spPr>
          <a:xfrm>
            <a:off x="7589525" y="1828800"/>
            <a:ext cx="3566100" cy="188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Text is embedded into a conditioning vector.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The vector is projected into the model input.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Backbone stays close to the UNet baseline.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2"/>
          <p:cNvSpPr/>
          <p:nvPr/>
        </p:nvSpPr>
        <p:spPr>
          <a:xfrm>
            <a:off x="411480" y="228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Methodology: the multimodal path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155" name="Google Shape;15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800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6" name="Google Shape;156;p12"/>
          <p:cNvCxnSpPr/>
          <p:nvPr/>
        </p:nvCxnSpPr>
        <p:spPr>
          <a:xfrm>
            <a:off x="411480" y="685800"/>
            <a:ext cx="1138428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7" name="Google Shape;157;p12"/>
          <p:cNvSpPr/>
          <p:nvPr/>
        </p:nvSpPr>
        <p:spPr>
          <a:xfrm>
            <a:off x="11430000" y="6446520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2"/>
          <p:cNvSpPr/>
          <p:nvPr/>
        </p:nvSpPr>
        <p:spPr>
          <a:xfrm>
            <a:off x="411480" y="644652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9" name="Google Shape;159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63575" y="848526"/>
            <a:ext cx="9737825" cy="58270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3"/>
          <p:cNvSpPr/>
          <p:nvPr/>
        </p:nvSpPr>
        <p:spPr>
          <a:xfrm>
            <a:off x="411480" y="228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Methodology: AViT tests whether global attention helps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166" name="Google Shape;16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800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7" name="Google Shape;167;p13"/>
          <p:cNvCxnSpPr/>
          <p:nvPr/>
        </p:nvCxnSpPr>
        <p:spPr>
          <a:xfrm>
            <a:off x="411480" y="685800"/>
            <a:ext cx="1138428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" name="Google Shape;168;p13"/>
          <p:cNvSpPr/>
          <p:nvPr/>
        </p:nvSpPr>
        <p:spPr>
          <a:xfrm>
            <a:off x="11430000" y="6446520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3"/>
          <p:cNvSpPr/>
          <p:nvPr/>
        </p:nvSpPr>
        <p:spPr>
          <a:xfrm>
            <a:off x="411480" y="644652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3"/>
          <p:cNvSpPr/>
          <p:nvPr/>
        </p:nvSpPr>
        <p:spPr>
          <a:xfrm>
            <a:off x="6263650" y="777250"/>
            <a:ext cx="5029200" cy="179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2800"/>
              <a:buFont typeface="Play"/>
              <a:buNone/>
            </a:pPr>
            <a:r>
              <a:rPr b="1" lang="en-US" sz="2800">
                <a:solidFill>
                  <a:srgbClr val="0A2F3A"/>
                </a:solidFill>
              </a:rPr>
              <a:t>Attention sees long-range dependencies; PDE rollouts also need stable local dynamics.</a:t>
            </a:r>
            <a:endParaRPr sz="2800">
              <a:solidFill>
                <a:schemeClr val="dk1"/>
              </a:solidFill>
            </a:endParaRPr>
          </a:p>
        </p:txBody>
      </p:sp>
      <p:sp>
        <p:nvSpPr>
          <p:cNvPr id="171" name="Google Shape;171;p13"/>
          <p:cNvSpPr/>
          <p:nvPr/>
        </p:nvSpPr>
        <p:spPr>
          <a:xfrm>
            <a:off x="6355080" y="2788920"/>
            <a:ext cx="43891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hMLP stem embeds input fields.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Axial attention scans x and y axes.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Transpose convolutions reconstruct outputs.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3"/>
          <p:cNvSpPr/>
          <p:nvPr/>
        </p:nvSpPr>
        <p:spPr>
          <a:xfrm>
            <a:off x="6355075" y="4617731"/>
            <a:ext cx="44805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Representative comparison: ~14.84M parameters.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3"/>
          <p:cNvSpPr/>
          <p:nvPr/>
        </p:nvSpPr>
        <p:spPr>
          <a:xfrm>
            <a:off x="868680" y="5074920"/>
            <a:ext cx="4526280" cy="914400"/>
          </a:xfrm>
          <a:prstGeom prst="roundRect">
            <a:avLst>
              <a:gd fmla="val 16667" name="adj"/>
            </a:avLst>
          </a:prstGeom>
          <a:solidFill>
            <a:srgbClr val="EEF7F8"/>
          </a:solidFill>
          <a:ln cap="flat" cmpd="sng" w="9525">
            <a:solidFill>
              <a:srgbClr val="C6E9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3"/>
          <p:cNvSpPr txBox="1"/>
          <p:nvPr/>
        </p:nvSpPr>
        <p:spPr>
          <a:xfrm>
            <a:off x="987549" y="5138925"/>
            <a:ext cx="1435500" cy="2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73150" spcFirstLastPara="1" rIns="73150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AViT path</a:t>
            </a:r>
            <a:endParaRPr/>
          </a:p>
        </p:txBody>
      </p:sp>
      <p:sp>
        <p:nvSpPr>
          <p:cNvPr id="175" name="Google Shape;175;p13"/>
          <p:cNvSpPr/>
          <p:nvPr/>
        </p:nvSpPr>
        <p:spPr>
          <a:xfrm>
            <a:off x="914400" y="5440680"/>
            <a:ext cx="1051560" cy="329184"/>
          </a:xfrm>
          <a:prstGeom prst="roundRect">
            <a:avLst>
              <a:gd fmla="val 16667" name="adj"/>
            </a:avLst>
          </a:prstGeom>
          <a:solidFill>
            <a:srgbClr val="C6E9EE"/>
          </a:solidFill>
          <a:ln cap="flat" cmpd="sng" w="9525">
            <a:solidFill>
              <a:srgbClr val="C6E9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25" lIns="36575" spcFirstLastPara="1" rIns="36575" wrap="square" tIns="91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Stem</a:t>
            </a:r>
            <a:endParaRPr/>
          </a:p>
        </p:txBody>
      </p:sp>
      <p:sp>
        <p:nvSpPr>
          <p:cNvPr id="176" name="Google Shape;176;p13"/>
          <p:cNvSpPr/>
          <p:nvPr/>
        </p:nvSpPr>
        <p:spPr>
          <a:xfrm>
            <a:off x="2011680" y="5513832"/>
            <a:ext cx="411480" cy="18288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A6B2"/>
          </a:solidFill>
          <a:ln cap="flat" cmpd="sng" w="9525">
            <a:solidFill>
              <a:srgbClr val="00A6B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3"/>
          <p:cNvSpPr/>
          <p:nvPr/>
        </p:nvSpPr>
        <p:spPr>
          <a:xfrm>
            <a:off x="2468880" y="5394960"/>
            <a:ext cx="1508760" cy="420624"/>
          </a:xfrm>
          <a:prstGeom prst="roundRect">
            <a:avLst>
              <a:gd fmla="val 16667" name="adj"/>
            </a:avLst>
          </a:prstGeom>
          <a:solidFill>
            <a:srgbClr val="EEF7F8"/>
          </a:solidFill>
          <a:ln cap="flat" cmpd="sng" w="9525">
            <a:solidFill>
              <a:srgbClr val="C6E9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25" lIns="36575" spcFirstLastPara="1" rIns="36575" wrap="square" tIns="91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Axial</a:t>
            </a:r>
            <a:br>
              <a:rPr b="1" lang="en-US" sz="11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11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attention</a:t>
            </a:r>
            <a:endParaRPr/>
          </a:p>
        </p:txBody>
      </p:sp>
      <p:sp>
        <p:nvSpPr>
          <p:cNvPr id="178" name="Google Shape;178;p13"/>
          <p:cNvSpPr/>
          <p:nvPr/>
        </p:nvSpPr>
        <p:spPr>
          <a:xfrm>
            <a:off x="4069080" y="5513832"/>
            <a:ext cx="411480" cy="18288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A6B2"/>
          </a:solidFill>
          <a:ln cap="flat" cmpd="sng" w="9525">
            <a:solidFill>
              <a:srgbClr val="00A6B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3"/>
          <p:cNvSpPr/>
          <p:nvPr/>
        </p:nvSpPr>
        <p:spPr>
          <a:xfrm>
            <a:off x="4526280" y="5440680"/>
            <a:ext cx="731520" cy="329184"/>
          </a:xfrm>
          <a:prstGeom prst="roundRect">
            <a:avLst>
              <a:gd fmla="val 16667" name="adj"/>
            </a:avLst>
          </a:prstGeom>
          <a:solidFill>
            <a:srgbClr val="C6E9EE"/>
          </a:solidFill>
          <a:ln cap="flat" cmpd="sng" w="9525">
            <a:solidFill>
              <a:srgbClr val="C6E9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25" lIns="36575" spcFirstLastPara="1" rIns="36575" wrap="square" tIns="91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Decode</a:t>
            </a:r>
            <a:endParaRPr/>
          </a:p>
        </p:txBody>
      </p:sp>
      <p:pic>
        <p:nvPicPr>
          <p:cNvPr descr="/mnt/data/ppt_media/image20.gif.png" id="180" name="Google Shape;18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51667" y="1280145"/>
            <a:ext cx="2743200" cy="274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4"/>
          <p:cNvSpPr/>
          <p:nvPr/>
        </p:nvSpPr>
        <p:spPr>
          <a:xfrm>
            <a:off x="411480" y="228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Results summary: the simplest solver wins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187" name="Google Shape;18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800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8" name="Google Shape;188;p14"/>
          <p:cNvCxnSpPr/>
          <p:nvPr/>
        </p:nvCxnSpPr>
        <p:spPr>
          <a:xfrm>
            <a:off x="411480" y="685800"/>
            <a:ext cx="1138428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9" name="Google Shape;189;p14"/>
          <p:cNvSpPr/>
          <p:nvPr/>
        </p:nvSpPr>
        <p:spPr>
          <a:xfrm>
            <a:off x="11430000" y="6446520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4"/>
          <p:cNvSpPr/>
          <p:nvPr/>
        </p:nvSpPr>
        <p:spPr>
          <a:xfrm>
            <a:off x="411480" y="644652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4"/>
          <p:cNvSpPr/>
          <p:nvPr/>
        </p:nvSpPr>
        <p:spPr>
          <a:xfrm>
            <a:off x="594360" y="2112275"/>
            <a:ext cx="2057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1350"/>
              <a:buFont typeface="Arial"/>
              <a:buNone/>
            </a:pPr>
            <a:r>
              <a:rPr b="1" lang="en-US" sz="135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Model</a:t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4"/>
          <p:cNvSpPr/>
          <p:nvPr/>
        </p:nvSpPr>
        <p:spPr>
          <a:xfrm>
            <a:off x="2834640" y="2112275"/>
            <a:ext cx="1097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1350"/>
              <a:buFont typeface="Arial"/>
              <a:buNone/>
            </a:pPr>
            <a:r>
              <a:rPr b="1" lang="en-US" sz="135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Test loss</a:t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4"/>
          <p:cNvSpPr/>
          <p:nvPr/>
        </p:nvSpPr>
        <p:spPr>
          <a:xfrm>
            <a:off x="4114800" y="2112275"/>
            <a:ext cx="2514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1350"/>
              <a:buFont typeface="Arial"/>
              <a:buNone/>
            </a:pPr>
            <a:r>
              <a:rPr b="1" lang="en-US" sz="135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Observation</a:t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4" name="Google Shape;194;p14"/>
          <p:cNvCxnSpPr/>
          <p:nvPr/>
        </p:nvCxnSpPr>
        <p:spPr>
          <a:xfrm>
            <a:off x="594360" y="2478035"/>
            <a:ext cx="5623500" cy="0"/>
          </a:xfrm>
          <a:prstGeom prst="straightConnector1">
            <a:avLst/>
          </a:prstGeom>
          <a:noFill/>
          <a:ln cap="flat" cmpd="sng" w="15225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5" name="Google Shape;195;p14"/>
          <p:cNvSpPr/>
          <p:nvPr/>
        </p:nvSpPr>
        <p:spPr>
          <a:xfrm>
            <a:off x="594360" y="2569475"/>
            <a:ext cx="2057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UNetClassic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4"/>
          <p:cNvSpPr/>
          <p:nvPr/>
        </p:nvSpPr>
        <p:spPr>
          <a:xfrm>
            <a:off x="2834640" y="2569475"/>
            <a:ext cx="1097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0.13623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4"/>
          <p:cNvSpPr/>
          <p:nvPr/>
        </p:nvSpPr>
        <p:spPr>
          <a:xfrm>
            <a:off x="4114800" y="2569475"/>
            <a:ext cx="2514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best OOD rollout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8" name="Google Shape;198;p14"/>
          <p:cNvCxnSpPr/>
          <p:nvPr/>
        </p:nvCxnSpPr>
        <p:spPr>
          <a:xfrm>
            <a:off x="594360" y="2935235"/>
            <a:ext cx="5623500" cy="0"/>
          </a:xfrm>
          <a:prstGeom prst="straightConnector1">
            <a:avLst/>
          </a:prstGeom>
          <a:noFill/>
          <a:ln cap="flat" cmpd="sng" w="9525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9" name="Google Shape;199;p14"/>
          <p:cNvSpPr/>
          <p:nvPr/>
        </p:nvSpPr>
        <p:spPr>
          <a:xfrm>
            <a:off x="594360" y="3026675"/>
            <a:ext cx="2057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UNetClassicConditioned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4"/>
          <p:cNvSpPr/>
          <p:nvPr/>
        </p:nvSpPr>
        <p:spPr>
          <a:xfrm>
            <a:off x="2834640" y="3026675"/>
            <a:ext cx="1097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0.13802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4"/>
          <p:cNvSpPr/>
          <p:nvPr/>
        </p:nvSpPr>
        <p:spPr>
          <a:xfrm>
            <a:off x="4114800" y="3026675"/>
            <a:ext cx="2514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slightly worse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2" name="Google Shape;202;p14"/>
          <p:cNvCxnSpPr/>
          <p:nvPr/>
        </p:nvCxnSpPr>
        <p:spPr>
          <a:xfrm>
            <a:off x="594360" y="3392435"/>
            <a:ext cx="5623500" cy="0"/>
          </a:xfrm>
          <a:prstGeom prst="straightConnector1">
            <a:avLst/>
          </a:prstGeom>
          <a:noFill/>
          <a:ln cap="flat" cmpd="sng" w="9525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p14"/>
          <p:cNvSpPr/>
          <p:nvPr/>
        </p:nvSpPr>
        <p:spPr>
          <a:xfrm>
            <a:off x="594360" y="3483875"/>
            <a:ext cx="2057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AViT run A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4"/>
          <p:cNvSpPr/>
          <p:nvPr/>
        </p:nvSpPr>
        <p:spPr>
          <a:xfrm>
            <a:off x="2834640" y="3483875"/>
            <a:ext cx="1097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0.41496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4"/>
          <p:cNvSpPr/>
          <p:nvPr/>
        </p:nvSpPr>
        <p:spPr>
          <a:xfrm>
            <a:off x="4114800" y="3483875"/>
            <a:ext cx="2514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high loss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6" name="Google Shape;206;p14"/>
          <p:cNvCxnSpPr/>
          <p:nvPr/>
        </p:nvCxnSpPr>
        <p:spPr>
          <a:xfrm>
            <a:off x="594360" y="3849635"/>
            <a:ext cx="5623500" cy="0"/>
          </a:xfrm>
          <a:prstGeom prst="straightConnector1">
            <a:avLst/>
          </a:prstGeom>
          <a:noFill/>
          <a:ln cap="flat" cmpd="sng" w="9525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14"/>
          <p:cNvSpPr/>
          <p:nvPr/>
        </p:nvSpPr>
        <p:spPr>
          <a:xfrm>
            <a:off x="594360" y="3941075"/>
            <a:ext cx="2057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AViT run B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4"/>
          <p:cNvSpPr/>
          <p:nvPr/>
        </p:nvSpPr>
        <p:spPr>
          <a:xfrm>
            <a:off x="2834640" y="3941075"/>
            <a:ext cx="1097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0.48020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4"/>
          <p:cNvSpPr/>
          <p:nvPr/>
        </p:nvSpPr>
        <p:spPr>
          <a:xfrm>
            <a:off x="4114800" y="3941075"/>
            <a:ext cx="2514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high loss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0" name="Google Shape;210;p14"/>
          <p:cNvCxnSpPr/>
          <p:nvPr/>
        </p:nvCxnSpPr>
        <p:spPr>
          <a:xfrm>
            <a:off x="594360" y="4306835"/>
            <a:ext cx="5623500" cy="0"/>
          </a:xfrm>
          <a:prstGeom prst="straightConnector1">
            <a:avLst/>
          </a:prstGeom>
          <a:noFill/>
          <a:ln cap="flat" cmpd="sng" w="9525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1" name="Google Shape;211;p14"/>
          <p:cNvCxnSpPr/>
          <p:nvPr/>
        </p:nvCxnSpPr>
        <p:spPr>
          <a:xfrm>
            <a:off x="594360" y="2020835"/>
            <a:ext cx="5623500" cy="0"/>
          </a:xfrm>
          <a:prstGeom prst="straightConnector1">
            <a:avLst/>
          </a:prstGeom>
          <a:noFill/>
          <a:ln cap="flat" cmpd="sng" w="15225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" name="Google Shape;212;p14"/>
          <p:cNvSpPr/>
          <p:nvPr/>
        </p:nvSpPr>
        <p:spPr>
          <a:xfrm>
            <a:off x="658368" y="4581155"/>
            <a:ext cx="2011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Lower is better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4"/>
          <p:cNvSpPr/>
          <p:nvPr/>
        </p:nvSpPr>
        <p:spPr>
          <a:xfrm>
            <a:off x="6720840" y="1143000"/>
            <a:ext cx="3474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2400"/>
              <a:buFont typeface="Play"/>
              <a:buNone/>
            </a:pPr>
            <a:r>
              <a:rPr b="1" lang="en-US" sz="2400">
                <a:solidFill>
                  <a:srgbClr val="0A2F3A"/>
                </a:solidFill>
              </a:rPr>
              <a:t>What this says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214" name="Google Shape;214;p14"/>
          <p:cNvSpPr/>
          <p:nvPr/>
        </p:nvSpPr>
        <p:spPr>
          <a:xfrm>
            <a:off x="6766560" y="1783080"/>
            <a:ext cx="438912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UNet baseline is strongest on OOD rollout.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Text conditioning does not improve this setup.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AViT is about 3.0x-3.5x worse than UNet.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Architecture matters more than light text fusion.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4"/>
          <p:cNvSpPr/>
          <p:nvPr/>
        </p:nvSpPr>
        <p:spPr>
          <a:xfrm>
            <a:off x="6766550" y="4846331"/>
            <a:ext cx="4389000" cy="14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Main takeaway: the current text signal is not yet aligned with rollout dynamics.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5"/>
          <p:cNvSpPr/>
          <p:nvPr/>
        </p:nvSpPr>
        <p:spPr>
          <a:xfrm>
            <a:off x="411480" y="228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Qualitative rollout: UNet family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222" name="Google Shape;22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800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3" name="Google Shape;223;p15"/>
          <p:cNvCxnSpPr/>
          <p:nvPr/>
        </p:nvCxnSpPr>
        <p:spPr>
          <a:xfrm>
            <a:off x="411480" y="685800"/>
            <a:ext cx="1138428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4" name="Google Shape;224;p15"/>
          <p:cNvSpPr/>
          <p:nvPr/>
        </p:nvSpPr>
        <p:spPr>
          <a:xfrm>
            <a:off x="11430000" y="6446520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5"/>
          <p:cNvSpPr/>
          <p:nvPr/>
        </p:nvSpPr>
        <p:spPr>
          <a:xfrm>
            <a:off x="411480" y="644652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ppt_media/ppt/media/image4.png" id="226" name="Google Shape;22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1417990"/>
            <a:ext cx="4754880" cy="31533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ppt_media/ppt/media/image5.png" id="227" name="Google Shape;227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37960" y="1449826"/>
            <a:ext cx="4754880" cy="3089669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15"/>
          <p:cNvSpPr/>
          <p:nvPr/>
        </p:nvSpPr>
        <p:spPr>
          <a:xfrm>
            <a:off x="1005840" y="5074920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UNet baseline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5"/>
          <p:cNvSpPr/>
          <p:nvPr/>
        </p:nvSpPr>
        <p:spPr>
          <a:xfrm>
            <a:off x="6720840" y="5074920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UNet conditioned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5"/>
          <p:cNvSpPr/>
          <p:nvPr/>
        </p:nvSpPr>
        <p:spPr>
          <a:xfrm>
            <a:off x="914400" y="5806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The conditioned curve stays close, but does not beat the baseline.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6"/>
          <p:cNvSpPr/>
          <p:nvPr/>
        </p:nvSpPr>
        <p:spPr>
          <a:xfrm>
            <a:off x="411480" y="228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Qualitative rollout: AViT runs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237" name="Google Shape;23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800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38" name="Google Shape;238;p16"/>
          <p:cNvCxnSpPr/>
          <p:nvPr/>
        </p:nvCxnSpPr>
        <p:spPr>
          <a:xfrm>
            <a:off x="411480" y="685800"/>
            <a:ext cx="1138428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9" name="Google Shape;239;p16"/>
          <p:cNvSpPr/>
          <p:nvPr/>
        </p:nvSpPr>
        <p:spPr>
          <a:xfrm>
            <a:off x="11430000" y="6446520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6"/>
          <p:cNvSpPr/>
          <p:nvPr/>
        </p:nvSpPr>
        <p:spPr>
          <a:xfrm>
            <a:off x="411480" y="644652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ppt_media/ppt/media/image13.png" id="241" name="Google Shape;24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1459542"/>
            <a:ext cx="4754880" cy="30702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ppt_media/ppt/media/image12.png" id="242" name="Google Shape;242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37960" y="1426454"/>
            <a:ext cx="4754880" cy="313641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16"/>
          <p:cNvSpPr/>
          <p:nvPr/>
        </p:nvSpPr>
        <p:spPr>
          <a:xfrm>
            <a:off x="1005840" y="5074920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AViT run A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6"/>
          <p:cNvSpPr/>
          <p:nvPr/>
        </p:nvSpPr>
        <p:spPr>
          <a:xfrm>
            <a:off x="6720840" y="5074920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AViT run B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6"/>
          <p:cNvSpPr/>
          <p:nvPr/>
        </p:nvSpPr>
        <p:spPr>
          <a:xfrm>
            <a:off x="914400" y="5806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Both AViT runs show higher rollout loss than the convolutional baseline.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7"/>
          <p:cNvSpPr/>
          <p:nvPr/>
        </p:nvSpPr>
        <p:spPr>
          <a:xfrm>
            <a:off x="411480" y="228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Interpretation: why the text did not help yet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252" name="Google Shape;25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800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53" name="Google Shape;253;p17"/>
          <p:cNvCxnSpPr/>
          <p:nvPr/>
        </p:nvCxnSpPr>
        <p:spPr>
          <a:xfrm>
            <a:off x="411480" y="685800"/>
            <a:ext cx="1138428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4" name="Google Shape;254;p17"/>
          <p:cNvSpPr/>
          <p:nvPr/>
        </p:nvSpPr>
        <p:spPr>
          <a:xfrm>
            <a:off x="11430000" y="6446520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7"/>
          <p:cNvSpPr/>
          <p:nvPr/>
        </p:nvSpPr>
        <p:spPr>
          <a:xfrm>
            <a:off x="411480" y="644652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7"/>
          <p:cNvSpPr/>
          <p:nvPr/>
        </p:nvSpPr>
        <p:spPr>
          <a:xfrm>
            <a:off x="5669274" y="1005850"/>
            <a:ext cx="51303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2300"/>
              <a:buFont typeface="Play"/>
              <a:buNone/>
            </a:pPr>
            <a:r>
              <a:rPr b="1" lang="en-US" sz="2300">
                <a:solidFill>
                  <a:srgbClr val="0A2F3A"/>
                </a:solidFill>
              </a:rPr>
              <a:t>Text conditioning underperformed</a:t>
            </a:r>
            <a:endParaRPr sz="2300">
              <a:solidFill>
                <a:schemeClr val="dk1"/>
              </a:solidFill>
            </a:endParaRPr>
          </a:p>
        </p:txBody>
      </p:sp>
      <p:sp>
        <p:nvSpPr>
          <p:cNvPr id="257" name="Google Shape;257;p17"/>
          <p:cNvSpPr/>
          <p:nvPr/>
        </p:nvSpPr>
        <p:spPr>
          <a:xfrm>
            <a:off x="5715000" y="1691640"/>
            <a:ext cx="47548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Dataset identity may already be encoded in channels.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Added embedding parameters can overfit.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Text and UNet features may not align strongly.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7"/>
          <p:cNvSpPr/>
          <p:nvPr/>
        </p:nvSpPr>
        <p:spPr>
          <a:xfrm>
            <a:off x="5669280" y="3703320"/>
            <a:ext cx="4480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2300"/>
              <a:buFont typeface="Play"/>
              <a:buNone/>
            </a:pPr>
            <a:r>
              <a:rPr b="1" lang="en-US" sz="2300">
                <a:solidFill>
                  <a:srgbClr val="0A2F3A"/>
                </a:solidFill>
              </a:rPr>
              <a:t>AViT underperformed</a:t>
            </a:r>
            <a:endParaRPr sz="2300">
              <a:solidFill>
                <a:schemeClr val="dk1"/>
              </a:solidFill>
            </a:endParaRPr>
          </a:p>
        </p:txBody>
      </p:sp>
      <p:sp>
        <p:nvSpPr>
          <p:cNvPr id="259" name="Google Shape;259;p17"/>
          <p:cNvSpPr/>
          <p:nvPr/>
        </p:nvSpPr>
        <p:spPr>
          <a:xfrm>
            <a:off x="5715000" y="4343400"/>
            <a:ext cx="47548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Local PDE dynamics are hard to preserve.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More data or training may be required.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Temporal rollout stability is the bottleneck.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0" name="Google Shape;260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777574"/>
            <a:ext cx="5364479" cy="32398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8"/>
          <p:cNvSpPr/>
          <p:nvPr/>
        </p:nvSpPr>
        <p:spPr>
          <a:xfrm>
            <a:off x="411480" y="228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Limitations and next steps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267" name="Google Shape;26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800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8" name="Google Shape;268;p18"/>
          <p:cNvCxnSpPr/>
          <p:nvPr/>
        </p:nvCxnSpPr>
        <p:spPr>
          <a:xfrm>
            <a:off x="411480" y="685800"/>
            <a:ext cx="1138428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9" name="Google Shape;269;p18"/>
          <p:cNvSpPr/>
          <p:nvPr/>
        </p:nvSpPr>
        <p:spPr>
          <a:xfrm>
            <a:off x="11430000" y="6446520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8"/>
          <p:cNvSpPr/>
          <p:nvPr/>
        </p:nvSpPr>
        <p:spPr>
          <a:xfrm>
            <a:off x="411480" y="644652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8"/>
          <p:cNvSpPr/>
          <p:nvPr/>
        </p:nvSpPr>
        <p:spPr>
          <a:xfrm>
            <a:off x="777240" y="1005840"/>
            <a:ext cx="3657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2400"/>
              <a:buFont typeface="Play"/>
              <a:buNone/>
            </a:pPr>
            <a:r>
              <a:rPr b="1" lang="en-US" sz="2400">
                <a:solidFill>
                  <a:srgbClr val="0A2F3A"/>
                </a:solidFill>
              </a:rPr>
              <a:t>Limitations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272" name="Google Shape;272;p18"/>
          <p:cNvSpPr/>
          <p:nvPr/>
        </p:nvSpPr>
        <p:spPr>
          <a:xfrm>
            <a:off x="868680" y="169164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Input-level fusion is simple.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OOD evaluation uses one main benchmark.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AViT is a representative comparison, not a tuned conditioned transformer.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8"/>
          <p:cNvSpPr/>
          <p:nvPr/>
        </p:nvSpPr>
        <p:spPr>
          <a:xfrm>
            <a:off x="777240" y="3703320"/>
            <a:ext cx="3657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2400"/>
              <a:buFont typeface="Play"/>
              <a:buNone/>
            </a:pPr>
            <a:r>
              <a:rPr b="1" lang="en-US" sz="2400">
                <a:solidFill>
                  <a:srgbClr val="0A2F3A"/>
                </a:solidFill>
              </a:rPr>
              <a:t>Next steps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274" name="Google Shape;274;p18"/>
          <p:cNvSpPr/>
          <p:nvPr/>
        </p:nvSpPr>
        <p:spPr>
          <a:xfrm>
            <a:off x="868680" y="4389120"/>
            <a:ext cx="512064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Fuse text at multiple feature scales.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Use richer embeddings and PDE metadata.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Run broader ablations across more PDE families.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5" name="Google Shape;27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41725" y="1005849"/>
            <a:ext cx="5558802" cy="4251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32350" y="1287650"/>
            <a:ext cx="1528725" cy="156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842750" y="1287650"/>
            <a:ext cx="1528725" cy="156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9"/>
          <p:cNvSpPr/>
          <p:nvPr/>
        </p:nvSpPr>
        <p:spPr>
          <a:xfrm>
            <a:off x="411480" y="228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Conclusion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284" name="Google Shape;28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800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5" name="Google Shape;285;p19"/>
          <p:cNvCxnSpPr/>
          <p:nvPr/>
        </p:nvCxnSpPr>
        <p:spPr>
          <a:xfrm>
            <a:off x="411480" y="685800"/>
            <a:ext cx="1138428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" name="Google Shape;286;p19"/>
          <p:cNvSpPr/>
          <p:nvPr/>
        </p:nvSpPr>
        <p:spPr>
          <a:xfrm>
            <a:off x="11430000" y="6446520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9"/>
          <p:cNvSpPr/>
          <p:nvPr/>
        </p:nvSpPr>
        <p:spPr>
          <a:xfrm>
            <a:off x="411480" y="644652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net_images/turbulence_mit.png" id="288" name="Google Shape;288;p19"/>
          <p:cNvPicPr preferRelativeResize="0"/>
          <p:nvPr/>
        </p:nvPicPr>
        <p:blipFill rotWithShape="1">
          <a:blip r:embed="rId4">
            <a:alphaModFix/>
          </a:blip>
          <a:srcRect b="0" l="5000" r="-13333" t="0"/>
          <a:stretch/>
        </p:blipFill>
        <p:spPr>
          <a:xfrm>
            <a:off x="640076" y="914400"/>
            <a:ext cx="4247632" cy="39209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9"/>
          <p:cNvSpPr/>
          <p:nvPr/>
        </p:nvSpPr>
        <p:spPr>
          <a:xfrm>
            <a:off x="6035040" y="1097280"/>
            <a:ext cx="51206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3200"/>
              <a:buFont typeface="Play"/>
              <a:buNone/>
            </a:pPr>
            <a:r>
              <a:rPr b="1" lang="en-US" sz="3200">
                <a:solidFill>
                  <a:srgbClr val="0A2F3A"/>
                </a:solidFill>
              </a:rPr>
              <a:t>For this PDE setup, better architecture beats light text conditioning.</a:t>
            </a:r>
            <a:endParaRPr sz="3200">
              <a:solidFill>
                <a:schemeClr val="dk1"/>
              </a:solidFill>
            </a:endParaRPr>
          </a:p>
        </p:txBody>
      </p:sp>
      <p:sp>
        <p:nvSpPr>
          <p:cNvPr id="290" name="Google Shape;290;p19"/>
          <p:cNvSpPr/>
          <p:nvPr/>
        </p:nvSpPr>
        <p:spPr>
          <a:xfrm>
            <a:off x="6126475" y="2834652"/>
            <a:ext cx="4755000" cy="167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UNet remains the strongest OOD rollout model.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Text is promising, but fusion must be stronger.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Future work should align language with PDE dynamics, not only concatenate embeddings.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9"/>
          <p:cNvSpPr/>
          <p:nvPr/>
        </p:nvSpPr>
        <p:spPr>
          <a:xfrm>
            <a:off x="6126475" y="4937744"/>
            <a:ext cx="47550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Story outcome: the negative result is useful—it tells us where multimodal PDE solvers need to improve.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9"/>
          <p:cNvSpPr/>
          <p:nvPr/>
        </p:nvSpPr>
        <p:spPr>
          <a:xfrm>
            <a:off x="685800" y="5074920"/>
            <a:ext cx="4617720" cy="960120"/>
          </a:xfrm>
          <a:prstGeom prst="roundRect">
            <a:avLst>
              <a:gd fmla="val 16667" name="adj"/>
            </a:avLst>
          </a:prstGeom>
          <a:solidFill>
            <a:srgbClr val="EEF7F8"/>
          </a:solidFill>
          <a:ln cap="flat" cmpd="sng" w="9525">
            <a:solidFill>
              <a:srgbClr val="C6E9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9"/>
          <p:cNvSpPr txBox="1"/>
          <p:nvPr/>
        </p:nvSpPr>
        <p:spPr>
          <a:xfrm>
            <a:off x="841251" y="5138925"/>
            <a:ext cx="1585200" cy="2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73150" spcFirstLastPara="1" rIns="73150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What this means</a:t>
            </a:r>
            <a:endParaRPr/>
          </a:p>
        </p:txBody>
      </p:sp>
      <p:sp>
        <p:nvSpPr>
          <p:cNvPr id="294" name="Google Shape;294;p19"/>
          <p:cNvSpPr/>
          <p:nvPr/>
        </p:nvSpPr>
        <p:spPr>
          <a:xfrm>
            <a:off x="868680" y="5413248"/>
            <a:ext cx="1325880" cy="347472"/>
          </a:xfrm>
          <a:prstGeom prst="roundRect">
            <a:avLst>
              <a:gd fmla="val 16667" name="adj"/>
            </a:avLst>
          </a:prstGeom>
          <a:solidFill>
            <a:srgbClr val="C6E9EE"/>
          </a:solidFill>
          <a:ln cap="flat" cmpd="sng" w="9525">
            <a:solidFill>
              <a:srgbClr val="C6E9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25" lIns="36575" spcFirstLastPara="1" rIns="36575" wrap="square" tIns="91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Best OOD:</a:t>
            </a:r>
            <a:br>
              <a:rPr b="1" lang="en-US" sz="11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11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UNet</a:t>
            </a:r>
            <a:endParaRPr/>
          </a:p>
        </p:txBody>
      </p:sp>
      <p:sp>
        <p:nvSpPr>
          <p:cNvPr id="295" name="Google Shape;295;p19"/>
          <p:cNvSpPr/>
          <p:nvPr/>
        </p:nvSpPr>
        <p:spPr>
          <a:xfrm>
            <a:off x="2331720" y="5413248"/>
            <a:ext cx="1417320" cy="347472"/>
          </a:xfrm>
          <a:prstGeom prst="roundRect">
            <a:avLst>
              <a:gd fmla="val 16667" name="adj"/>
            </a:avLst>
          </a:prstGeom>
          <a:solidFill>
            <a:srgbClr val="EEF7F8"/>
          </a:solidFill>
          <a:ln cap="flat" cmpd="sng" w="9525">
            <a:solidFill>
              <a:srgbClr val="C6E9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25" lIns="36575" spcFirstLastPara="1" rIns="36575" wrap="square" tIns="91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Fusion must</a:t>
            </a:r>
            <a:br>
              <a:rPr b="1" lang="en-US" sz="10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10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be stronger</a:t>
            </a:r>
            <a:endParaRPr/>
          </a:p>
        </p:txBody>
      </p:sp>
      <p:sp>
        <p:nvSpPr>
          <p:cNvPr id="296" name="Google Shape;296;p19"/>
          <p:cNvSpPr/>
          <p:nvPr/>
        </p:nvSpPr>
        <p:spPr>
          <a:xfrm>
            <a:off x="3886200" y="5413248"/>
            <a:ext cx="1234440" cy="347472"/>
          </a:xfrm>
          <a:prstGeom prst="roundRect">
            <a:avLst>
              <a:gd fmla="val 16667" name="adj"/>
            </a:avLst>
          </a:prstGeom>
          <a:solidFill>
            <a:srgbClr val="C6E9EE"/>
          </a:solidFill>
          <a:ln cap="flat" cmpd="sng" w="9525">
            <a:solidFill>
              <a:srgbClr val="C6E9E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25" lIns="36575" spcFirstLastPara="1" rIns="36575" wrap="square" tIns="91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Useful</a:t>
            </a:r>
            <a:br>
              <a:rPr b="1" lang="en-US" sz="10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10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negative result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0"/>
          <p:cNvSpPr/>
          <p:nvPr/>
        </p:nvSpPr>
        <p:spPr>
          <a:xfrm>
            <a:off x="411480" y="228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6B2"/>
              </a:buClr>
              <a:buSzPts val="2100"/>
              <a:buFont typeface="Play"/>
              <a:buNone/>
            </a:pPr>
            <a:r>
              <a:rPr lang="en-US" sz="2100">
                <a:solidFill>
                  <a:srgbClr val="00A6B2"/>
                </a:solidFill>
              </a:rPr>
              <a:t>R</a:t>
            </a:r>
            <a:r>
              <a:rPr lang="en-US" sz="2100">
                <a:solidFill>
                  <a:srgbClr val="00A6B2"/>
                </a:solidFill>
              </a:rPr>
              <a:t>eferences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descr="/mnt/data/ppt_media/ppt/media/image6.png" id="303" name="Google Shape;30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01400" y="218668"/>
            <a:ext cx="685800" cy="193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4" name="Google Shape;304;p20"/>
          <p:cNvCxnSpPr/>
          <p:nvPr/>
        </p:nvCxnSpPr>
        <p:spPr>
          <a:xfrm>
            <a:off x="411480" y="685800"/>
            <a:ext cx="11384280" cy="0"/>
          </a:xfrm>
          <a:prstGeom prst="straightConnector1">
            <a:avLst/>
          </a:prstGeom>
          <a:noFill/>
          <a:ln cap="flat" cmpd="sng" w="12700">
            <a:solidFill>
              <a:srgbClr val="A8DD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20"/>
          <p:cNvSpPr/>
          <p:nvPr/>
        </p:nvSpPr>
        <p:spPr>
          <a:xfrm>
            <a:off x="11430000" y="6446520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0"/>
          <p:cNvSpPr/>
          <p:nvPr/>
        </p:nvSpPr>
        <p:spPr>
          <a:xfrm>
            <a:off x="411480" y="644652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6636E"/>
              </a:buClr>
              <a:buSzPts val="700"/>
              <a:buFont typeface="Arial"/>
              <a:buNone/>
            </a:pPr>
            <a:r>
              <a:rPr lang="en-US" sz="700">
                <a:solidFill>
                  <a:srgbClr val="46636E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0"/>
          <p:cNvSpPr/>
          <p:nvPr/>
        </p:nvSpPr>
        <p:spPr>
          <a:xfrm>
            <a:off x="672125" y="991100"/>
            <a:ext cx="9694500" cy="502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250"/>
              <a:buFont typeface="Arial"/>
              <a:buNone/>
            </a:pPr>
            <a:r>
              <a:rPr lang="en-US" sz="225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225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Zhou et al. (2024). Unisolver: PDE-Conditional Transformers Are Universal PDE Solvers.</a:t>
            </a:r>
            <a:endParaRPr sz="2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250"/>
              <a:buFont typeface="Arial"/>
              <a:buNone/>
            </a:pPr>
            <a:r>
              <a:rPr lang="en-US" sz="225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Zhou et al. (2025). Text2PDE: Latent Diffusion Models for Accessible Physics Simulation.</a:t>
            </a:r>
            <a:endParaRPr sz="2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250"/>
              <a:buFont typeface="Arial"/>
              <a:buNone/>
            </a:pPr>
            <a:r>
              <a:rPr lang="en-US" sz="225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Brandstetter et al. (2022). Message Passing Neural PDE Solvers.</a:t>
            </a:r>
            <a:endParaRPr sz="2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250"/>
              <a:buFont typeface="Arial"/>
              <a:buNone/>
            </a:pPr>
            <a:r>
              <a:rPr lang="en-US" sz="225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Lorsung &amp; Barati Farimani (2024). Using LLMs to Improve PDE Surrogate Models with Text.</a:t>
            </a:r>
            <a:endParaRPr sz="2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250"/>
              <a:buFont typeface="Arial"/>
              <a:buNone/>
            </a:pPr>
            <a:r>
              <a:rPr lang="en-US" sz="225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Wuwu et al. (2025). PINNsAgent: Automated PDE Surrogation with LLMs.</a:t>
            </a:r>
            <a:endParaRPr sz="2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2F3A"/>
              </a:buClr>
              <a:buSzPts val="1250"/>
              <a:buFont typeface="Arial"/>
              <a:buNone/>
            </a:pPr>
            <a:r>
              <a:rPr lang="en-US" sz="225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• Li et al. (2025). CodePDE: LLM-driven PDE Solver Generation.</a:t>
            </a:r>
            <a:endParaRPr sz="2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1"/>
          <p:cNvSpPr txBox="1"/>
          <p:nvPr/>
        </p:nvSpPr>
        <p:spPr>
          <a:xfrm>
            <a:off x="411480" y="228600"/>
            <a:ext cx="10515600" cy="5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73150" spcFirstLastPara="1" rIns="73150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00A6B2"/>
                </a:solidFill>
              </a:rPr>
              <a:t>THANK YOU</a:t>
            </a:r>
            <a:endParaRPr/>
          </a:p>
        </p:txBody>
      </p:sp>
      <p:pic>
        <p:nvPicPr>
          <p:cNvPr descr="image.png" id="313" name="Google Shape;31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13934" y="219456"/>
            <a:ext cx="260731" cy="192024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21"/>
          <p:cNvSpPr/>
          <p:nvPr/>
        </p:nvSpPr>
        <p:spPr>
          <a:xfrm>
            <a:off x="411480" y="685800"/>
            <a:ext cx="11384280" cy="9144"/>
          </a:xfrm>
          <a:prstGeom prst="rect">
            <a:avLst/>
          </a:prstGeom>
          <a:solidFill>
            <a:srgbClr val="C6E9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15" name="Google Shape;31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903720" y="868680"/>
            <a:ext cx="4526280" cy="452628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1"/>
          <p:cNvSpPr txBox="1"/>
          <p:nvPr/>
        </p:nvSpPr>
        <p:spPr>
          <a:xfrm>
            <a:off x="731520" y="1371600"/>
            <a:ext cx="52122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73150" spcFirstLastPara="1" rIns="73150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A2F3A"/>
                </a:solidFill>
              </a:rPr>
              <a:t>Questions?</a:t>
            </a:r>
            <a:endParaRPr/>
          </a:p>
        </p:txBody>
      </p:sp>
      <p:sp>
        <p:nvSpPr>
          <p:cNvPr id="317" name="Google Shape;317;p21"/>
          <p:cNvSpPr txBox="1"/>
          <p:nvPr/>
        </p:nvSpPr>
        <p:spPr>
          <a:xfrm>
            <a:off x="749808" y="25603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73150" spcFirstLastPara="1" rIns="73150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0A2F3A"/>
                </a:solidFill>
                <a:latin typeface="Arial"/>
                <a:ea typeface="Arial"/>
                <a:cs typeface="Arial"/>
                <a:sym typeface="Arial"/>
              </a:rPr>
              <a:t>Integrating text with PDE solvers is promising — but the fusion has to be smarter.</a:t>
            </a:r>
            <a:endParaRPr/>
          </a:p>
        </p:txBody>
      </p:sp>
      <p:sp>
        <p:nvSpPr>
          <p:cNvPr id="318" name="Google Shape;318;p21"/>
          <p:cNvSpPr txBox="1"/>
          <p:nvPr/>
        </p:nvSpPr>
        <p:spPr>
          <a:xfrm>
            <a:off x="749808" y="3657600"/>
            <a:ext cx="47548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73150" spcFirstLastPara="1" rIns="73150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A6B2"/>
                </a:solidFill>
                <a:latin typeface="Arial"/>
                <a:ea typeface="Arial"/>
                <a:cs typeface="Arial"/>
                <a:sym typeface="Arial"/>
              </a:rPr>
              <a:t>Divyam Jain</a:t>
            </a:r>
            <a:endParaRPr/>
          </a:p>
        </p:txBody>
      </p:sp>
      <p:sp>
        <p:nvSpPr>
          <p:cNvPr id="319" name="Google Shape;319;p21"/>
          <p:cNvSpPr txBox="1"/>
          <p:nvPr/>
        </p:nvSpPr>
        <p:spPr>
          <a:xfrm>
            <a:off x="749808" y="406908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73150" spcFirstLastPara="1" rIns="73150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7A8B94"/>
                </a:solidFill>
                <a:latin typeface="Arial"/>
                <a:ea typeface="Arial"/>
                <a:cs typeface="Arial"/>
                <a:sym typeface="Arial"/>
              </a:rPr>
              <a:t>Research Project Presentation</a:t>
            </a:r>
            <a:endParaRPr/>
          </a:p>
        </p:txBody>
      </p:sp>
      <p:sp>
        <p:nvSpPr>
          <p:cNvPr id="320" name="Google Shape;320;p21"/>
          <p:cNvSpPr txBox="1"/>
          <p:nvPr/>
        </p:nvSpPr>
        <p:spPr>
          <a:xfrm>
            <a:off x="411480" y="6446520"/>
            <a:ext cx="3200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73150" spcFirstLastPara="1" rIns="73150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7A8B94"/>
                </a:solidFill>
                <a:latin typeface="Arial"/>
                <a:ea typeface="Arial"/>
                <a:cs typeface="Arial"/>
                <a:sym typeface="Arial"/>
              </a:rPr>
              <a:t>Divyam Jain | 638041</a:t>
            </a:r>
            <a:endParaRPr/>
          </a:p>
        </p:txBody>
      </p:sp>
      <p:sp>
        <p:nvSpPr>
          <p:cNvPr id="321" name="Google Shape;321;p21"/>
          <p:cNvSpPr txBox="1"/>
          <p:nvPr/>
        </p:nvSpPr>
        <p:spPr>
          <a:xfrm>
            <a:off x="11430000" y="6446520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73150" spcFirstLastPara="1" rIns="73150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7A8B94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