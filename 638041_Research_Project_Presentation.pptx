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2392A9-7921-404D-B8B9-425882F68BBC}">
  <a:tblStyle styleId="{2D2392A9-7921-404D-B8B9-425882F68B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4EE90AD-A6F4-451E-936C-52CD3CEF19C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6dd647a0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16dd647a0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6dd647a0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16dd647a0_2_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6dd647a0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16dd647a0_2_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6dd647a0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16dd647a0_2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6dd647a0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16dd647a0_2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16dd647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16dd647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16dd647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16dd647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16dd647a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16dd647a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16dd647a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16dd647a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16dd647a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16dd647a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16dd647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16dd647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16dd647a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16dd647a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16dd647a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16dd647a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6dd647a0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16dd647a0_2_2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16dd647a0_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16dd647a0_2_2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16dd647a0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16dd647a0_2_2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38213" y="321768"/>
            <a:ext cx="7658329" cy="3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9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22156" y="1184279"/>
            <a:ext cx="3902393" cy="332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>
                <a:solidFill>
                  <a:srgbClr val="265D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38213" y="321768"/>
            <a:ext cx="7658329" cy="3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9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9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>
                <a:solidFill>
                  <a:srgbClr val="265D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38213" y="321768"/>
            <a:ext cx="7658329" cy="3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9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44067" y="141684"/>
            <a:ext cx="8855869" cy="4860608"/>
          </a:xfrm>
          <a:custGeom>
            <a:rect b="b" l="l" r="r" t="t"/>
            <a:pathLst>
              <a:path extrusionOk="0" h="6480809" w="11807825">
                <a:moveTo>
                  <a:pt x="0" y="0"/>
                </a:moveTo>
                <a:lnTo>
                  <a:pt x="11807824" y="0"/>
                </a:lnTo>
                <a:lnTo>
                  <a:pt x="11807824" y="6480175"/>
                </a:lnTo>
                <a:lnTo>
                  <a:pt x="0" y="6480175"/>
                </a:lnTo>
                <a:lnTo>
                  <a:pt x="0" y="0"/>
                </a:lnTo>
                <a:close/>
              </a:path>
              <a:path extrusionOk="0" h="6480809" w="11807825">
                <a:moveTo>
                  <a:pt x="0" y="1152524"/>
                </a:moveTo>
                <a:lnTo>
                  <a:pt x="10652124" y="1152524"/>
                </a:lnTo>
              </a:path>
              <a:path extrusionOk="0" h="6480809" w="11807825">
                <a:moveTo>
                  <a:pt x="10652124" y="1151854"/>
                </a:moveTo>
                <a:lnTo>
                  <a:pt x="11807824" y="1151854"/>
                </a:lnTo>
              </a:path>
              <a:path extrusionOk="0" h="6480809" w="11807825">
                <a:moveTo>
                  <a:pt x="10652124" y="6480446"/>
                </a:moveTo>
                <a:lnTo>
                  <a:pt x="11807824" y="6480446"/>
                </a:lnTo>
              </a:path>
            </a:pathLst>
          </a:custGeom>
          <a:noFill/>
          <a:ln cap="flat" cmpd="sng" w="12675">
            <a:solidFill>
              <a:srgbClr val="00C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54598" y="352147"/>
            <a:ext cx="427470" cy="12092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338213" y="321768"/>
            <a:ext cx="7658329" cy="389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900" u="none" cap="none" strike="noStrike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22156" y="1184279"/>
            <a:ext cx="3902393" cy="332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 u="none" cap="none" strike="noStrike">
                <a:solidFill>
                  <a:srgbClr val="265D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76200">
              <a:lnSpc>
                <a:spcPct val="100000"/>
              </a:lnSpc>
              <a:spcBef>
                <a:spcPts val="0"/>
              </a:spcBef>
              <a:buNone/>
              <a:defRPr b="0" i="0" sz="14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762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gif"/><Relationship Id="rId4" Type="http://schemas.openxmlformats.org/officeDocument/2006/relationships/image" Target="../media/image2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hyperlink" Target="https://arxiv.org/search/cs?searchtype=author&amp;query=Wuwu,+Q" TargetMode="External"/><Relationship Id="rId22" Type="http://schemas.openxmlformats.org/officeDocument/2006/relationships/hyperlink" Target="https://arxiv.org/abs/2501.12053" TargetMode="External"/><Relationship Id="rId21" Type="http://schemas.openxmlformats.org/officeDocument/2006/relationships/hyperlink" Target="https://arxiv.org/search/cs?searchtype=author&amp;query=Gao,+C" TargetMode="External"/><Relationship Id="rId24" Type="http://schemas.openxmlformats.org/officeDocument/2006/relationships/hyperlink" Target="https://arxiv.org/search/cs?searchtype=author&amp;query=Li,+S" TargetMode="External"/><Relationship Id="rId23" Type="http://schemas.openxmlformats.org/officeDocument/2006/relationships/hyperlink" Target="https://arxiv.org/abs/2501.12053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rxiv.org/search/cs?searchtype=author&amp;query=Zhou,+H" TargetMode="External"/><Relationship Id="rId4" Type="http://schemas.openxmlformats.org/officeDocument/2006/relationships/hyperlink" Target="https://arxiv.org/search/cs?searchtype=author&amp;query=Ma,+Y" TargetMode="External"/><Relationship Id="rId9" Type="http://schemas.openxmlformats.org/officeDocument/2006/relationships/hyperlink" Target="https://arxiv.org/abs/2405.17527" TargetMode="External"/><Relationship Id="rId26" Type="http://schemas.openxmlformats.org/officeDocument/2006/relationships/hyperlink" Target="https://arxiv.org/abs/2505.08783" TargetMode="External"/><Relationship Id="rId25" Type="http://schemas.openxmlformats.org/officeDocument/2006/relationships/hyperlink" Target="https://arxiv.org/search/cs?searchtype=author&amp;query=Marwah,+T" TargetMode="External"/><Relationship Id="rId27" Type="http://schemas.openxmlformats.org/officeDocument/2006/relationships/hyperlink" Target="https://arxiv.org/abs/2505.08783" TargetMode="External"/><Relationship Id="rId5" Type="http://schemas.openxmlformats.org/officeDocument/2006/relationships/hyperlink" Target="https://arxiv.org/search/cs?searchtype=author&amp;query=Wu,+H" TargetMode="External"/><Relationship Id="rId6" Type="http://schemas.openxmlformats.org/officeDocument/2006/relationships/hyperlink" Target="https://arxiv.org/search/cs?searchtype=author&amp;query=Wang,+H" TargetMode="External"/><Relationship Id="rId7" Type="http://schemas.openxmlformats.org/officeDocument/2006/relationships/hyperlink" Target="https://arxiv.org/search/cs?searchtype=author&amp;query=Long,+M" TargetMode="External"/><Relationship Id="rId8" Type="http://schemas.openxmlformats.org/officeDocument/2006/relationships/hyperlink" Target="https://arxiv.org/abs/2405.17527" TargetMode="External"/><Relationship Id="rId11" Type="http://schemas.openxmlformats.org/officeDocument/2006/relationships/hyperlink" Target="https://openreview.net/profile?id=~Zijie_Li2" TargetMode="External"/><Relationship Id="rId10" Type="http://schemas.openxmlformats.org/officeDocument/2006/relationships/hyperlink" Target="https://openreview.net/profile?id=~Anthony_Zhou1" TargetMode="External"/><Relationship Id="rId13" Type="http://schemas.openxmlformats.org/officeDocument/2006/relationships/hyperlink" Target="https://openreview.net/profile?id=~John_R_Buchanan_Jr1" TargetMode="External"/><Relationship Id="rId12" Type="http://schemas.openxmlformats.org/officeDocument/2006/relationships/hyperlink" Target="https://openreview.net/profile?id=~Michael_Schneier1" TargetMode="External"/><Relationship Id="rId15" Type="http://schemas.openxmlformats.org/officeDocument/2006/relationships/hyperlink" Target="https://openreview.net/forum?id=Nb3a8aUGfj" TargetMode="External"/><Relationship Id="rId14" Type="http://schemas.openxmlformats.org/officeDocument/2006/relationships/hyperlink" Target="https://openreview.net/profile?id=~Amir_Barati_Farimani2" TargetMode="External"/><Relationship Id="rId17" Type="http://schemas.openxmlformats.org/officeDocument/2006/relationships/hyperlink" Target="https://arxiv.org/search/cs?searchtype=author&amp;query=Blancard,+B+R" TargetMode="External"/><Relationship Id="rId16" Type="http://schemas.openxmlformats.org/officeDocument/2006/relationships/hyperlink" Target="https://arxiv.org/search/cs?searchtype=author&amp;query=McCabe,+M" TargetMode="External"/><Relationship Id="rId19" Type="http://schemas.openxmlformats.org/officeDocument/2006/relationships/hyperlink" Target="https://arxiv.org/pdf/2410.01137" TargetMode="External"/><Relationship Id="rId18" Type="http://schemas.openxmlformats.org/officeDocument/2006/relationships/hyperlink" Target="https://arxiv.org/abs/2310.02994" TargetMode="Externa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showMasterSp="0">
  <ns0:cSld>
    <ns0:spTree>
      <ns0:nvGrpSpPr>
        <ns0:cNvPr id="89" name="Shape 8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90" name="Google Shape;90;p19"/>
          <ns0:cNvGrpSpPr/>
          <ns0:nvPr/>
        </ns0:nvGrpSpPr>
        <ns0:grpSpPr>
          <ns1:xfrm>
            <ns1:off x="2357752" y="2536400"/>
            <ns1:ext cx="2212181" cy="1348193"/>
            <ns1:chOff x="3143670" y="3381866"/>
            <ns1:chExt cx="2949575" cy="1797591"/>
          </ns1:xfrm>
        </ns0:grpSpPr>
        <ns0:sp>
          <ns0:nvSpPr>
            <ns0:cNvPr id="91" name="Google Shape;91;p19"/>
            <ns0:cNvSpPr/>
            <ns0:nvPr/>
          </ns0:nvSpPr>
          <ns0:spPr>
            <ns1:xfrm>
              <ns1:off x="3143670" y="3422734"/>
              <ns1:ext cx="2949575" cy="1707514"/>
            </ns1:xfrm>
            <ns1:custGeom>
              <ns1:rect b="b" l="l" r="r" t="t"/>
              <ns1:pathLst>
                <ns1:path extrusionOk="0" h="1707514" w="2949575">
                  <ns1:moveTo>
                    <ns1:pt x="0" y="0"/>
                  </ns1:moveTo>
                  <ns1:lnTo>
                    <ns1:pt x="1474637" y="853683"/>
                  </ns1:lnTo>
                </ns1:path>
                <ns1:path extrusionOk="0" h="1707514" w="2949575">
                  <ns1:moveTo>
                    <ns1:pt x="2949273" y="0"/>
                  </ns1:moveTo>
                  <ns1:lnTo>
                    <ns1:pt x="1474636" y="853683"/>
                  </ns1:lnTo>
                </ns1:path>
                <ns1:path extrusionOk="0" h="1707514" w="2949575">
                  <ns1:moveTo>
                    <ns1:pt x="0" y="853683"/>
                  </ns1:moveTo>
                  <ns1:lnTo>
                    <ns1:pt x="1474637" y="1707367"/>
                  </ns1:lnTo>
                </ns1:path>
                <ns1:path extrusionOk="0" h="1707514" w="2949575">
                  <ns1:moveTo>
                    <ns1:pt x="2949273" y="853683"/>
                  </ns1:moveTo>
                  <ns1:lnTo>
                    <ns1:pt x="1474636" y="1707367"/>
                  </ns1:lnTo>
                </ns1:path>
              </ns1:pathLst>
            </ns1:custGeom>
            <ns1:noFill/>
            <ns1:ln cap="flat" cmpd="sng" w="12675">
              <ns1:solidFill>
                <ns1:srgbClr val="00C1D4"/>
              </ns1:solidFill>
              <ns1:prstDash val="solid"/>
              <ns1:round/>
              <ns1:headEnd len="sm" w="sm" type="none"/>
              <ns1:tailEnd len="sm" w="sm" type="none"/>
            </ns1:ln>
          </ns0:spPr>
          <ns0:txBody>
            <ns1:bodyPr anchorCtr="0" anchor="t" bIns="0" lIns="0" spcFirstLastPara="1" rIns="0" wrap="square" tIns="0">
              <ns1:noAutofit/>
            </ns1:bodyPr>
            <ns1:lstStyle/>
            <ns1:p>
              <ns1:pPr indent="0" lvl="0" marL="0" rtl="0" algn="l"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t/>
              </ns1:r>
              <ns1:endParaRPr sz="1100"/>
            </ns1:p>
          </ns0:txBody>
        </ns0:sp>
        <ns0:pic>
          <ns0:nvPicPr>
            <ns0:cNvPr id="92" name="Google Shape;92;p19"/>
            <ns0:cNvPicPr preferRelativeResize="0"/>
            <ns0:nvPr/>
          </ns0:nvPicPr>
          <ns0:blipFill rotWithShape="1">
            <ns1:blip ns2:embed="rId3">
              <ns1:alphaModFix/>
            </ns1:blip>
            <ns1:srcRect b="0" l="0" r="0" t="0"/>
            <ns1:stretch/>
          </ns0:blipFill>
          <ns0:spPr>
            <ns1:xfrm>
              <ns1:off x="4570267" y="5083879"/>
              <ns1:ext cx="95578" cy="95578"/>
            </ns1:xfrm>
            <ns1:prstGeom prst="rect">
              <ns1:avLst/>
            </ns1:prstGeom>
            <ns1:noFill/>
            <ns1:ln>
              <ns1:noFill/>
            </ns1:ln>
          </ns0:spPr>
        </ns0:pic>
        <ns0:pic>
          <ns0:nvPicPr>
            <ns0:cNvPr id="93" name="Google Shape;93;p19"/>
            <ns0:cNvPicPr preferRelativeResize="0"/>
            <ns0:nvPr/>
          </ns0:nvPicPr>
          <ns0:blipFill rotWithShape="1">
            <ns1:blip ns2:embed="rId4">
              <ns1:alphaModFix/>
            </ns1:blip>
            <ns1:srcRect b="0" l="0" r="0" t="0"/>
            <ns1:stretch/>
          </ns0:blipFill>
          <ns0:spPr>
            <ns1:xfrm>
              <ns1:off x="4570267" y="4229319"/>
              <ns1:ext cx="95578" cy="95578"/>
            </ns1:xfrm>
            <ns1:prstGeom prst="rect">
              <ns1:avLst/>
            </ns1:prstGeom>
            <ns1:noFill/>
            <ns1:ln>
              <ns1:noFill/>
            </ns1:ln>
          </ns0:spPr>
        </ns0:pic>
        <ns0:pic>
          <ns0:nvPicPr>
            <ns0:cNvPr id="94" name="Google Shape;94;p19"/>
            <ns0:cNvPicPr preferRelativeResize="0"/>
            <ns0:nvPr/>
          </ns0:nvPicPr>
          <ns0:blipFill rotWithShape="1">
            <ns1:blip ns2:embed="rId4">
              <ns1:alphaModFix/>
            </ns1:blip>
            <ns1:srcRect b="0" l="0" r="0" t="0"/>
            <ns1:stretch/>
          </ns0:blipFill>
          <ns0:spPr>
            <ns1:xfrm>
              <ns1:off x="4570267" y="3381866"/>
              <ns1:ext cx="95578" cy="95578"/>
            </ns1:xfrm>
            <ns1:prstGeom prst="rect">
              <ns1:avLst/>
            </ns1:prstGeom>
            <ns1:noFill/>
            <ns1:ln>
              <ns1:noFill/>
            </ns1:ln>
          </ns0:spPr>
        </ns0:pic>
      </ns0:grpSp>
      <ns0:graphicFrame>
        <ns0:nvGraphicFramePr>
          <ns0:cNvPr id="95" name="Google Shape;95;p19"/>
          <ns0:cNvGraphicFramePr/>
          <ns0:nvPr/>
        </ns0:nvGraphicFramePr>
        <ns0:xfrm>
          <ns1:off x="139304" y="136922"/>
          <ns1:ext cx="3000000" cy="3000000"/>
        </ns0:xfrm>
        <ns1:graphic>
          <ns1:graphicData uri="http://schemas.openxmlformats.org/drawingml/2006/table">
            <ns1:tbl>
              <ns1:tblPr bandRow="1" firstRow="1">
                <ns1:noFill/>
                <ns1:tableStyleId>{2D2392A9-7921-404D-B8B9-425882F68BBC}</ns1:tableStyleId>
              </ns1:tblPr>
              <ns1:tblGrid>
                <ns1:gridCol w="2213600"/>
                <ns1:gridCol w="1105850"/>
                <ns1:gridCol w="1106325"/>
                <ns1:gridCol w="4430550"/>
              </ns1:tblGrid>
              <ns1:tr h="2429825">
                <ns1:tc gridSpan="3">
                  <ns1:txBody>
                    <ns1:bodyPr/>
                    <ns1:lstStyle/>
                    <ns1:p>
                      <ns1:pPr indent="0" lvl="0" marL="190500" marR="914400" rtl="0" algn="l">
                        <ns1:lnSpc>
                          <ns1:spcPct val="111579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2500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>Integrating Text-Based Problem Descriptions with Data-driven PDE Solvers</ns1:t>
                      </ns1:r>
                      <ns1:endParaRPr sz="2500">
                        <ns1:solidFill>
                          <ns1:srgbClr val="00C1D4"/>
                        </ns1:solidFill>
                        <ns1:latin typeface="Lucida Sans"/>
                        <ns1:ea typeface="Lucida Sans"/>
                        <ns1:cs typeface="Lucida Sans"/>
                        <ns1:sym typeface="Lucida Sans"/>
                      </ns1:endParaRPr>
                    </ns1:p>
                  </ns1:txBody>
                  <ns1:tcPr marT="330525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 hMerge="1"/>
                <ns1:tc hMerge="1"/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635325">
                <ns1:tc rowSpan="3"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 rowSpan="3"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640075">
                <ns1:tc vMerge="1"/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 vMerge="1"/>
              </ns1:tr>
              <ns1:tr h="486225">
                <ns1:tc vMerge="1"/>
                <ns1:tc gridSpan="2"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9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  <ns1:p>
                      <ns1:pPr indent="0" lvl="0" marL="0" marR="0" rtl="0"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900" u="none" cap="none" strike="noStrike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>02.06.2026</ns1:t>
                      </ns1:r>
                      <ns1:r>
                        <ns1:rPr lang="en" sz="900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/>
                      </ns1:r>
                      <ns1:r>
                        <ns1:rPr lang="en" sz="900" u="none" cap="none" strike="noStrike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/>
                      </ns1:r>
                      <ns1:r>
                        <ns1:rPr lang="en" sz="900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/>
                      </ns1:r>
                      <ns1:endParaRPr sz="900" u="none" cap="none" strike="noStrike">
                        <ns1:latin typeface="Lucida Sans"/>
                        <ns1:ea typeface="Lucida Sans"/>
                        <ns1:cs typeface="Lucida Sans"/>
                        <ns1:sym typeface="Lucida Sans"/>
                      </ns1:endParaRPr>
                    </ns1:p>
                  </ns1:txBody>
                  <ns1:tcPr marT="4240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 hMerge="1"/>
                <ns1:tc vMerge="1"/>
              </ns1:tr>
              <ns1:tr h="667700">
                <ns1:tc gridSpan="3"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9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  <ns1:p>
                      <ns1:pPr indent="0" lvl="0" marL="431800" marR="3048362" rtl="0" algn="l">
                        <ns1:lnSpc>
                          <ns1:spcPct val="108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900">
                          <ns1:solidFill>
                            <ns1:srgbClr val="00C1D4"/>
                          </ns1:solidFill>
                          <ns1:latin typeface="Arial Black"/>
                          <ns1:ea typeface="Arial Black"/>
                          <ns1:cs typeface="Arial Black"/>
                          <ns1:sym typeface="Arial Black"/>
                        </ns1:rPr>
                        <ns1:t>Divyam Jain | Roll Number: 638041</ns1:t>
                      </ns1:r>
                      <ns1:endParaRPr sz="900" u="none" cap="none" strike="noStrike">
                        <ns1:latin typeface="Arial Black"/>
                        <ns1:ea typeface="Arial Black"/>
                        <ns1:cs typeface="Arial Black"/>
                        <ns1:sym typeface="Arial Black"/>
                      </ns1:endParaRPr>
                    </ns1:p>
                  </ns1:txBody>
                  <ns1:tcPr marT="9430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 hMerge="1"/>
                <ns1:tc hMerge="1"/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21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  <ns0:pic>
        <ns0:nvPicPr>
          <ns0:cNvPr id="96" name="Google Shape;96;p19"/>
          <ns0:cNvPicPr preferRelativeResize="0"/>
          <ns0:nvPr/>
        </ns0:nvPicPr>
        <ns0:blipFill rotWithShape="1">
          <ns1:blip ns2:embed="rId5">
            <ns1:alphaModFix/>
          </ns1:blip>
          <ns1:srcRect b="0" l="0" r="0" t="0"/>
          <ns1:stretch/>
        </ns0:blipFill>
        <ns0:spPr>
          <ns1:xfrm>
            <ns1:off x="575071" y="2972032"/>
            <ns1:ext cx="1389459" cy="1023564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97" name="Google Shape;97;p19"/>
          <ns0:cNvPicPr preferRelativeResize="0"/>
          <ns0:nvPr/>
        </ns0:nvPicPr>
        <ns0:blipFill rotWithShape="1">
          <ns1:blip ns2:embed="rId6">
            <ns1:alphaModFix/>
          </ns1:blip>
          <ns1:srcRect b="0" l="0" r="0" t="0"/>
          <ns1:stretch/>
        </ns0:blipFill>
        <ns0:spPr>
          <ns1:xfrm>
            <ns1:off x="4828449" y="2829669"/>
            <ns1:ext cx="4010024" cy="1038224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0:nvGrpSpPr>
        <ns0:cNvPr id="101" name="Shape 101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2" name="Google Shape;102;p20"/>
          <ns0:cNvSpPr txBox="1"/>
          <ns0:nvPr>
            <ns0:ph type="title"/>
          </ns0:nvPr>
        </ns0:nvSpPr>
        <ns0:spPr>
          <ns1:xfrm>
            <ns1:off x="338213" y="321768"/>
            <ns1:ext cx="7658329" cy="3896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89050">
            <ns1:spAutoFit/>
          </ns1:bodyPr>
          <ns1:lstStyle/>
          <ns1:p>
            <ns1:pPr indent="0" lvl="0" marL="2413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/>
              <ns1:t>Index</ns1:t>
            </ns1:r>
            <ns1:endParaRPr/>
          </ns1:p>
        </ns0:txBody>
      </ns0:sp>
      <ns0:sp>
        <ns0:nvSpPr>
          <ns0:cNvPr id="103" name="Google Shape;103;p20"/>
          <ns0:cNvSpPr txBox="1"/>
          <ns0:nvPr>
            <ns0:ph idx="12" type="sldNum"/>
          </ns0:nvPr>
        </ns0:nvSpPr>
        <ns0:spPr>
          <ns1:xfrm>
            <ns1:off x="8436417" y="4657631"/>
            <ns1:ext cx="273368" cy="259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18100">
            <ns1:spAutoFit/>
          </ns1:bodyPr>
          <ns1:lstStyle/>
          <ns1:p>
            <ns1:pPr indent="0" lvl="0" marL="76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rPr lang="en"/>
              <ns1:t>‹#›</ns1:t>
            </ns1:fld>
            <ns1:endParaRPr/>
          </ns1:p>
        </ns0:txBody>
      </ns0:sp>
      <ns0:sp>
        <ns0:nvSpPr>
          <ns0:cNvPr id="104" name="Google Shape;104;p20"/>
          <ns0:cNvSpPr txBox="1"/>
          <ns0:nvPr/>
        </ns0:nvSpPr>
        <ns0:spPr>
          <ns1:xfrm>
            <ns1:off x="359090" y="1162386"/>
            <ns1:ext cx="5392200" cy="3396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9525">
            <ns1:spAutoFit/>
          </ns1:bodyPr>
          <ns1:lstStyle/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Arial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Introduction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Arial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Problem Setting and Motivation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Arial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Related Work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Lucida Sans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Methodology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Lucida Sans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Experiments and Results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Lucida Sans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Interpretation and Discussion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Lucida Sans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Limitations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Lucida Sans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Conclusion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Arial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Reproducibility Statement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Arial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>Selected References</ns1:t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  <ns1:p>
            <ns1:pPr indent="-317500" lvl="0" marL="330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2000"/>
              <ns1:buFont typeface="Arial"/>
              <ns1:buChar char="●"/>
            </ns1:pPr>
            <ns1:r>
              <ns1:rPr lang="en" sz="2000">
                <ns1:solidFill>
                  <ns1:srgbClr val="265D71"/>
                </ns1:solidFill>
                <ns1:latin typeface="Lucida Sans"/>
                <ns1:ea typeface="Lucida Sans"/>
                <ns1:cs typeface="Lucida Sans"/>
                <ns1:sym typeface="Lucida Sans"/>
              </ns1:rPr>
              <ns1:t/>
            </ns1:r>
            <ns1:endParaRPr sz="2000">
              <ns1:solidFill>
                <ns1:srgbClr val="265D71"/>
              </ns1:solidFill>
              <ns1:latin typeface="Lucida Sans"/>
              <ns1:ea typeface="Lucida Sans"/>
              <ns1:cs typeface="Lucida Sans"/>
              <ns1:sym typeface="Lucida Sans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08" name="Shape 108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9" name="Google Shape;109;p21"/>
          <ns0:cNvSpPr txBox="1"/>
          <ns0:nvPr>
            <ns0:ph type="title"/>
          </ns0:nvPr>
        </ns0:nvSpPr>
        <ns0:spPr>
          <ns1:xfrm>
            <ns1:off x="338213" y="321768"/>
            <ns1:ext cx="7658329" cy="3896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89050">
            <ns1:spAutoFit/>
          </ns1:bodyPr>
          <ns1:lstStyle/>
          <ns1:p>
            <ns1:pPr indent="0" lvl="0" marL="2413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/>
              <ns1:t>Introduction</ns1:t>
            </ns1:r>
            <ns1:endParaRPr/>
          </ns1:p>
        </ns0:txBody>
      </ns0:sp>
      <ns0:sp>
        <ns0:nvSpPr>
          <ns0:cNvPr id="110" name="Google Shape;110;p21"/>
          <ns0:cNvSpPr txBox="1"/>
          <ns0:nvPr>
            <ns0:ph idx="12" type="sldNum"/>
          </ns0:nvPr>
        </ns0:nvSpPr>
        <ns0:spPr>
          <ns1:xfrm>
            <ns1:off x="8436417" y="4657631"/>
            <ns1:ext cx="273368" cy="2590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18100">
            <ns1:spAutoFit/>
          </ns1:bodyPr>
          <ns1:lstStyle/>
          <ns1:p>
            <ns1:pPr indent="0" lvl="0" marL="762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rPr lang="en"/>
              <ns1:t>‹#›</ns1:t>
            </ns1:fld>
            <ns1:endParaRPr/>
          </ns1:p>
        </ns0:txBody>
      </ns0:sp>
      <ns0:sp>
        <ns0:nvSpPr>
          <ns0:cNvPr id="111" name="Google Shape;111;p21"/>
          <ns0:cNvSpPr txBox="1"/>
          <ns0:nvPr/>
        </ns0:nvSpPr>
        <ns0:spPr>
          <ns1:xfrm>
            <ns1:off x="346341" y="1284325"/>
            <ns1:ext cx="5998500" cy="31173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55250">
            <ns1:spAutoFit/>
          </ns1:bodyPr>
          <ns1:lstStyle/>
          <ns1:p>
            <ns1:pPr indent="-3175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lang="en">
                <ns1:solidFill>
                  <ns1:srgbClr val="265D71"/>
                </ns1:solidFill>
              </ns1:rPr>
              <ns1:t>Solving PDEs is essential in science and engineering, but traditional numerical methods are computationally expensive.</ns1:t>
            </ns1:r>
            <ns1:endParaRPr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lang="en">
                <ns1:solidFill>
                  <ns1:srgbClr val="265D71"/>
                </ns1:solidFill>
              </ns1:rPr>
              <ns1:t>Data-driven approaches are faster but rely only on numerical inputs, often ignoring physical context.</ns1:t>
            </ns1:r>
            <ns1:endParaRPr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lang="en">
                <ns1:solidFill>
                  <ns1:srgbClr val="265D71"/>
                </ns1:solidFill>
              </ns1:rPr>
              <ns1:t>With LLMs, textual descriptions of systems can now be incorporated into models.</ns1:t>
            </ns1:r>
            <ns1:endParaRPr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lang="en">
                <ns1:solidFill>
                  <ns1:srgbClr val="265D71"/>
                </ns1:solidFill>
              </ns1:rPr>
              <ns1:t>This work explores a multimodal approach combining text and numerical data.</ns1:t>
            </ns1:r>
            <ns1:endParaRPr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1000"/>
              </ns1:spcAft>
              <ns1:buClr>
                <ns1:srgbClr val="265D71"/>
              </ns1:buClr>
              <ns1:buSzPts val="1400"/>
              <ns1:buChar char="●"/>
            </ns1:pPr>
            <ns1:r>
              <ns1:rPr lang="en">
                <ns1:solidFill>
                  <ns1:srgbClr val="265D71"/>
                </ns1:solidFill>
              </ns1:rPr>
              <ns1:t>Results show that simple text conditioning does not improve OOD generalization in this PDE setup.</ns1:t>
            </ns1:r>
            <ns1:endParaRPr>
              <ns1:solidFill>
                <ns1:srgbClr val="265D71"/>
              </ns1:solidFill>
            </ns1:endParaRPr>
          </ns1:p>
        </ns0:txBody>
      </ns0:sp>
      <ns0:pic>
        <ns0:nvPicPr>
          <ns0:cNvPr id="112" name="Google Shape;112;p21"/>
          <ns0:cNvPicPr preferRelativeResize="0"/>
          <ns0:nvPr/>
        </ns0:nvPicPr>
        <ns0:blipFill>
          <ns1:blip ns2:embed="rId3">
            <ns1:alphaModFix/>
          </ns1:blip>
          <ns1:stretch>
            <ns1:fillRect/>
          </ns1:stretch>
        </ns0:blipFill>
        <ns0:spPr>
          <ns1:xfrm>
            <ns1:off x="6692025" y="1284325"/>
            <ns1:ext cx="2270000" cy="1456375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38213" y="321768"/>
            <a:ext cx="76584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Research Question</a:t>
            </a:r>
            <a:endParaRPr sz="2000"/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404850" y="1979400"/>
            <a:ext cx="5856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5D71"/>
                </a:solidFill>
                <a:latin typeface="Lucida Sans"/>
                <a:ea typeface="Lucida Sans"/>
                <a:cs typeface="Lucida Sans"/>
                <a:sym typeface="Lucida Sans"/>
              </a:rPr>
              <a:t>Can integrating text-based descriptions improve the OOD generalization of data-driven PDE solvers?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04850" y="3250340"/>
            <a:ext cx="83343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5D71"/>
                </a:solidFill>
                <a:latin typeface="Lucida Sans"/>
                <a:ea typeface="Lucida Sans"/>
                <a:cs typeface="Lucida Sans"/>
                <a:sym typeface="Lucida Sans"/>
              </a:rPr>
              <a:t>Hypothesis:</a:t>
            </a:r>
            <a:endParaRPr>
              <a:solidFill>
                <a:srgbClr val="265D7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5D71"/>
                </a:solidFill>
                <a:latin typeface="Lucida Sans"/>
                <a:ea typeface="Lucida Sans"/>
                <a:cs typeface="Lucida Sans"/>
                <a:sym typeface="Lucida Sans"/>
              </a:rPr>
              <a:t>Incorporating textual descriptions enables the model to learn more context-aware representations, improving generalization beyond training data.</a:t>
            </a:r>
            <a:endParaRPr>
              <a:solidFill>
                <a:srgbClr val="265D7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0875" y="1231456"/>
            <a:ext cx="2578275" cy="1936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38213" y="321768"/>
            <a:ext cx="76584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36417" y="4657631"/>
            <a:ext cx="273368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1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254306" y="1145633"/>
            <a:ext cx="8343000" cy="3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65D71"/>
                </a:solidFill>
              </a:rPr>
              <a:t>Training datasets: Turbulent Radiative Layer (2D), Active Matter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Test dataset (OOD): Helmholtz Staircase</a:t>
            </a:r>
            <a:endParaRPr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65D71"/>
                </a:solidFill>
              </a:rPr>
              <a:t>Resolution: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128 × 384 spatial grid</a:t>
            </a:r>
            <a:endParaRPr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65D71"/>
                </a:solidFill>
              </a:rPr>
              <a:t>Temporal setup: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Input timesteps: 4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Output timesteps: 1</a:t>
            </a:r>
            <a:endParaRPr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65D71"/>
                </a:solidFill>
              </a:rPr>
              <a:t>Multi-dataset training: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Different PDE families combined into unified representation</a:t>
            </a:r>
            <a:endParaRPr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65D71"/>
                </a:solidFill>
              </a:rPr>
              <a:t>Field representation: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Multi-channel tensor (e.g., velocity, temperature, density)</a:t>
            </a:r>
            <a:endParaRPr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200">
                <a:solidFill>
                  <a:srgbClr val="265D71"/>
                </a:solidFill>
              </a:rPr>
              <a:t>OOD evaluation:</a:t>
            </a:r>
            <a:br>
              <a:rPr lang="en" sz="1200">
                <a:solidFill>
                  <a:srgbClr val="265D71"/>
                </a:solidFill>
              </a:rPr>
            </a:br>
            <a:r>
              <a:rPr lang="en" sz="1200">
                <a:solidFill>
                  <a:srgbClr val="265D71"/>
                </a:solidFill>
              </a:rPr>
              <a:t>Test dataset differs in governing equation and structure</a:t>
            </a:r>
            <a:endParaRPr sz="1200">
              <a:solidFill>
                <a:srgbClr val="265D7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29" name="Google Shape;129;p23" title="density_normaliz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200" y="3637794"/>
            <a:ext cx="2535576" cy="8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2519" y="1126844"/>
            <a:ext cx="1877250" cy="18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34" name="Shape 134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5" name="Google Shape;135;p24"/>
          <ns0:cNvSpPr txBox="1"/>
          <ns0:nvPr>
            <ns0:ph idx="1" type="body"/>
          </ns0:nvPr>
        </ns0:nvSpPr>
        <ns0:spPr>
          <ns1:xfrm>
            <ns1:off x="422150" y="1184275"/>
            <ns1:ext cx="8385300" cy="16419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00000"/>
              </ns1:lnSpc>
              <ns1:spcBef>
                <ns1:spcPts val="1800"/>
              </ns1:spcBef>
              <ns1:spcAft>
                <ns1:spcPts val="0"/>
              </ns1:spcAft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PDE descriptions can be structured in four layers</ns1:t>
            </ns1:r>
            <ns1:r>
              <ns1:rPr lang="en" sz="1200">
                <ns1:solidFill>
                  <ns1:srgbClr val="265D71"/>
                </ns1:solidFill>
              </ns1:rPr>
              <ns1:t/>
            </ns1:r>
            <ns1:r>
              <ns1:rPr b="0" lang="en" sz="1200">
                <ns1:solidFill>
                  <ns1:srgbClr val="265D71"/>
                </ns1:solidFill>
              </ns1:rPr>
              <ns1:t/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00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1. Basic description</ns1:t>
            </ns1:r>
            <ns1:r>
              <ns1:rPr b="0" lang="en" sz="1200">
                <ns1:solidFill>
                  <ns1:srgbClr val="265D71"/>
                </ns1:solidFill>
              </ns1:rPr>
              <ns1:t>Identifies the equation type and core physical properties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00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2. Boundary conditions</ns1:t>
            </ns1:r>
            <ns1:r>
              <ns1:rPr b="0" lang="en" sz="1200">
                <ns1:solidFill>
                  <ns1:srgbClr val="265D71"/>
                </ns1:solidFill>
              </ns1:rPr>
              <ns1:t>Adds constraint information at the domain boundaries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00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3. Operator coefficients</ns1:t>
            </ns1:r>
            <ns1:r>
              <ns1:rPr b="0" lang="en" sz="1200">
                <ns1:solidFill>
                  <ns1:srgbClr val="265D71"/>
                </ns1:solidFill>
              </ns1:rPr>
              <ns1:t>Specifies the numerical parameters in the PDE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00000"/>
              </ns1:lnSpc>
              <ns1:spcBef>
                <ns1:spcPts val="1400"/>
              </ns1:spcBef>
              <ns1:spcAft>
                <ns1:spcPts val="40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4. Qualitative behavior</ns1:t>
            </ns1:r>
            <ns1:r>
              <ns1:rPr b="0" lang="en" sz="1200">
                <ns1:solidFill>
                  <ns1:srgbClr val="265D71"/>
                </ns1:solidFill>
              </ns1:rPr>
              <ns1:t>Captures intuitive dynamics that may not be explicit in the equation</ns1:t>
            </ns1:r>
            <ns1:endParaRPr sz="1200">
              <ns1:solidFill>
                <ns1:srgbClr val="265D71"/>
              </ns1:solidFill>
            </ns1:endParaRPr>
          </ns1:p>
        </ns0:txBody>
      </ns0:sp>
      <ns0:sp>
        <ns0:nvSpPr>
          <ns0:cNvPr id="136" name="Google Shape;136;p24"/>
          <ns0:cNvSpPr txBox="1"/>
          <ns0:nvPr>
            <ns0:ph type="title"/>
          </ns0:nvPr>
        </ns0:nvSpPr>
        <ns0:spPr>
          <ns1:xfrm>
            <ns1:off x="338213" y="441218"/>
            <ns1:ext cx="7658400" cy="307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2000">
                <ns1:solidFill>
                  <ns1:srgbClr val="00C1D4"/>
                </ns1:solidFill>
              </ns1:rPr>
              <ns1:t>Interpreting text descriptions of PDE systems</ns1:t>
            </ns1:r>
            <ns1:endParaRPr sz="2000">
              <ns1:solidFill>
                <ns1:srgbClr val="00C1D4"/>
              </ns1:solidFill>
            </ns1:endParaRPr>
          </ns1:p>
        </ns0:txBody>
      </ns0:sp>
      <ns0:pic>
        <ns0:nvPicPr>
          <ns0:cNvPr id="137" name="Google Shape;137;p24"/>
          <ns0:cNvPicPr preferRelativeResize="0"/>
          <ns0:nvPr/>
        </ns0:nvPicPr>
        <ns0:blipFill>
          <ns1:blip ns2:embed="rId3">
            <ns1:alphaModFix/>
          </ns1:blip>
          <ns1:stretch>
            <ns1:fillRect/>
          </ns1:stretch>
        </ns0:blipFill>
        <ns0:spPr>
          <ns1:xfrm>
            <ns1:off x="267553" y="1915725"/>
            <ns1:ext cx="9005949" cy="4098951"/>
          </ns1:xfrm>
          <ns1:prstGeom prst="rect">
            <ns1:avLst/>
          </ns1:prstGeom>
          <ns1:noFill/>
          <ns1:ln>
            <ns1:noFill/>
          </ns1:ln>
        </ns0:spPr>
      </ns0:pic>
      <ns0:sp>
        <ns0:nvSpPr>
          <ns0:cNvPr id="138" name="Google Shape;138;p24"/>
          <ns0:cNvSpPr txBox="1"/>
          <ns0:nvPr/>
        </ns0:nvSpPr>
        <ns0:spPr>
          <ns1:xfrm>
            <ns1:off x="1245600" y="3175807"/>
            <ns1:ext cx="6898800" cy="1263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91425" spcFirstLastPara="1" rIns="91425" wrap="square" tIns="91425">
            <ns1:noAutofit/>
          </ns1:bodyPr>
          <ns1:lstStyle/>
          <ns1:p>
            <ns1:pPr indent="0" lvl="0" marL="0" rtl="0" algn="l">
              <ns1:spcBef>
                <ns1:spcPts val="1200"/>
              </ns1:spcBef>
              <ns1:spcAft>
                <ns1:spcPts val="1200"/>
              </ns1:spcAft>
              <ns1:buNone/>
            </ns1:pPr>
            <ns1:r>
              <ns1:rPr b="1" i="1" lang="en" sz="1200">
                <ns1:solidFill>
                  <ns1:srgbClr val="265D71"/>
                </ns1:solidFill>
              </ns1:rPr>
              <ns1:t>Basic description + boundary conditions: Burgers equation is a conservative second-order PDE that can develop shocks, with Neumann boundary conditions and a constant boundary gradient.</ns1:t>
            </ns1:r>
            <ns1:r>
              <ns1:rPr b="1" lang="en" sz="1200">
                <ns1:solidFill>
                  <ns1:srgbClr val="265D71"/>
                </ns1:solidFill>
              </ns1:rPr>
              <ns1:t>Operator coefficients: the advection term uses coefficients alpha_x and alpha_y, while the diffusion term uses coefficient beta.</ns1:t>
            </ns1:r>
            <ns1:r>
              <ns1:rPr b="1" i="1" lang="en" sz="1200">
                <ns1:solidFill>
                  <ns1:srgbClr val="265D71"/>
                </ns1:solidFill>
              </ns1:rPr>
              <ns1:t>Qualitative behavior: the system is advection-dominated, unlike the heat equation, so the predicted state should develop shocks.</ns1:t>
            </ns1:r>
            <ns1:endParaRPr sz="1100">
              <ns1:solidFill>
                <ns1:srgbClr val="265D71"/>
              </ns1:solidFill>
            </ns1:endParaRP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spTree>
      <ns0:nvGrpSpPr>
        <ns0:cNvPr id="142" name="Shape 142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3" name="Google Shape;143;p25"/>
          <ns0:cNvSpPr txBox="1"/>
          <ns0:nvPr>
            <ns0:ph type="title"/>
          </ns0:nvPr>
        </ns0:nvSpPr>
        <ns0:spPr>
          <ns1:xfrm>
            <ns1:off x="338213" y="321768"/>
            <ns1:ext cx="7658400" cy="307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2400"/>
              </ns1:spcBef>
              <ns1:spcAft>
                <ns1:spcPts val="600"/>
              </ns1:spcAft>
              <ns1:buNone/>
            </ns1:pPr>
            <ns1:r>
              <ns1:rPr lang="en" sz="2000">
                <ns1:solidFill>
                  <ns1:srgbClr val="00C1D4"/>
                </ns1:solidFill>
              </ns1:rPr>
              <ns1:t>Experimental Setup</ns1:t>
            </ns1:r>
            <ns1:endParaRPr sz="2000">
              <ns1:solidFill>
                <ns1:srgbClr val="00C1D4"/>
              </ns1:solidFill>
            </ns1:endParaRPr>
          </ns1:p>
        </ns0:txBody>
      </ns0:sp>
      <ns0:graphicFrame>
        <ns0:nvGraphicFramePr>
          <ns0:cNvPr id="144" name="Google Shape;144;p25"/>
          <ns0:cNvGraphicFramePr/>
          <ns0:nvPr/>
        </ns0:nvGraphicFramePr>
        <ns0:xfrm>
          <ns1:off x="561284" y="1280595"/>
          <ns1:ext cx="3000000" cy="3000000"/>
        </ns0:xfrm>
        <ns1:graphic>
          <ns1:graphicData uri="http://schemas.openxmlformats.org/drawingml/2006/table">
            <ns1:tbl>
              <ns1:tblPr>
                <ns1:noFill/>
                <ns1:tableStyleId>{44EE90AD-A6F4-451E-936C-52CD3CEF19C1}</ns1:tableStyleId>
              </ns1:tblPr>
              <ns1:tblGrid>
                <ns1:gridCol w="1303800"/>
                <ns1:gridCol w="2265075"/>
              </ns1:tblGrid>
              <ns1:tr h="219075"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🧩 Type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📁 Dataset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🟢 Training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Turbulent Radiative Layer (2D)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🟢 Training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Active Matter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🔴 Testing (OOD)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Helmholtz Staircase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  <ns0:graphicFrame>
        <ns0:nvGraphicFramePr>
          <ns0:cNvPr id="145" name="Google Shape;145;p25"/>
          <ns0:cNvGraphicFramePr/>
          <ns0:nvPr/>
        </ns0:nvGraphicFramePr>
        <ns0:xfrm>
          <ns1:off x="561275" y="3266725"/>
          <ns1:ext cx="3000000" cy="3000000"/>
        </ns0:xfrm>
        <ns1:graphic>
          <ns1:graphicData uri="http://schemas.openxmlformats.org/drawingml/2006/table">
            <ns1:tbl>
              <ns1:tblPr>
                <ns1:noFill/>
                <ns1:tableStyleId>{44EE90AD-A6F4-451E-936C-52CD3CEF19C1}</ns1:tableStyleId>
              </ns1:tblPr>
              <ns1:tblGrid>
                <ns1:gridCol w="2385100"/>
                <ns1:gridCol w="1183775"/>
              </ns1:tblGrid>
              <ns1:tr h="219075"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⚙️ Parameter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📌 Value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⏱️ Input Timesteps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4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🎯 Output Timesteps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1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📐 Resolution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128 × 384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  <ns0:graphicFrame>
        <ns0:nvGraphicFramePr>
          <ns0:cNvPr id="146" name="Google Shape;146;p25"/>
          <ns0:cNvGraphicFramePr/>
          <ns0:nvPr/>
        </ns0:nvGraphicFramePr>
        <ns0:xfrm>
          <ns1:off x="4486375" y="1280600"/>
          <ns1:ext cx="3000000" cy="3000000"/>
        </ns0:xfrm>
        <ns1:graphic>
          <ns1:graphicData uri="http://schemas.openxmlformats.org/drawingml/2006/table">
            <ns1:tbl>
              <ns1:tblPr>
                <ns1:noFill/>
                <ns1:tableStyleId>{44EE90AD-A6F4-451E-936C-52CD3CEF19C1}</ns1:tableStyleId>
              </ns1:tblPr>
              <ns1:tblGrid>
                <ns1:gridCol w="1805825"/>
                <ns1:gridCol w="2305450"/>
              </ns1:tblGrid>
              <ns1:tr h="219075"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🧠 Model Type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📌 Description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0002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UNetClassic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Baseline model (no conditioning)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0002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UNetClassicConditioned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UNet + PDE text embedding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0002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AViT Runs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Representative transformer-baseline runs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  <ns0:graphicFrame>
        <ns0:nvGraphicFramePr>
          <ns0:cNvPr id="147" name="Google Shape;147;p25"/>
          <ns0:cNvGraphicFramePr/>
          <ns0:nvPr/>
        </ns0:nvGraphicFramePr>
        <ns0:xfrm>
          <ns1:off x="4486375" y="3266725"/>
          <ns1:ext cx="3000000" cy="3000000"/>
        </ns0:xfrm>
        <ns1:graphic>
          <ns1:graphicData uri="http://schemas.openxmlformats.org/drawingml/2006/table">
            <ns1:tbl>
              <ns1:tblPr>
                <ns1:noFill/>
                <ns1:tableStyleId>{44EE90AD-A6F4-451E-936C-52CD3CEF19C1}</ns1:tableStyleId>
              </ns1:tblPr>
              <ns1:tblGrid>
                <ns1:gridCol w="1251775"/>
                <ns1:gridCol w="2859500"/>
              </ns1:tblGrid>
              <ns1:tr h="219075"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⚙️ Component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📌 Details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🛠️ Optimizer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AdamW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📉 Scheduler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Linear Warmup + Cosine Annealing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🔁 Evaluation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Multi-step rollout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</ns0:spTree>
  </ns0:cSld>
  <ns0:clrMapOvr>
    <ns1:masterClrMapping/>
  </ns0:clrMapOvr>
</ns0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38213" y="321768"/>
            <a:ext cx="7658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Methodology - </a:t>
            </a:r>
            <a:r>
              <a:rPr lang="en" sz="2000"/>
              <a:t>UNet Architecture</a:t>
            </a:r>
            <a:endParaRPr sz="2000"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454800" y="1803275"/>
            <a:ext cx="2450400" cy="24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200">
                <a:solidFill>
                  <a:srgbClr val="265D71"/>
                </a:solidFill>
              </a:rPr>
              <a:t>Bottleneck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Deepest representation:</a:t>
            </a:r>
            <a:endParaRPr b="0" sz="1200">
              <a:solidFill>
                <a:srgbClr val="265D7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200">
                <a:solidFill>
                  <a:srgbClr val="265D71"/>
                </a:solidFill>
              </a:rPr>
              <a:t>High channel depth (1536)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Captures:</a:t>
            </a:r>
            <a:endParaRPr b="0" sz="1200">
              <a:solidFill>
                <a:srgbClr val="265D7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200">
                <a:solidFill>
                  <a:srgbClr val="265D71"/>
                </a:solidFill>
              </a:rPr>
              <a:t>Global spatial + temporal patterns</a:t>
            </a:r>
            <a:endParaRPr b="0" sz="1200">
              <a:solidFill>
                <a:srgbClr val="265D7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265D7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65D71"/>
                </a:solidFill>
              </a:rPr>
              <a:t>Key Design Choices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Activation: Tanh (stable for PDE regression)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Normalization: BatchNorm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Fully convolutional → supports grid-based inputs</a:t>
            </a:r>
            <a:endParaRPr b="0" sz="1200"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25" y="1072993"/>
            <a:ext cx="6150001" cy="3861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38213" y="321768"/>
            <a:ext cx="7658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Methodology - </a:t>
            </a:r>
            <a:r>
              <a:rPr lang="en" sz="2000"/>
              <a:t>UNet Conditioned Architecture</a:t>
            </a:r>
            <a:endParaRPr sz="2000"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5330475" y="1128750"/>
            <a:ext cx="3740400" cy="30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65D71"/>
                </a:solidFill>
              </a:rPr>
              <a:t>Integration with UNet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Conditioning vector is injected into the model input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Augments numerical PDE fields with </a:t>
            </a:r>
            <a:r>
              <a:rPr lang="en" sz="1200">
                <a:solidFill>
                  <a:srgbClr val="265D71"/>
                </a:solidFill>
              </a:rPr>
              <a:t>semantic context</a:t>
            </a:r>
            <a:endParaRPr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65D71"/>
                </a:solidFill>
              </a:rPr>
              <a:t>Core Backbone (UNet)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Same encoder–decoder structure as UNetClassic:</a:t>
            </a:r>
            <a:endParaRPr b="0" sz="1200">
              <a:solidFill>
                <a:srgbClr val="265D7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○"/>
            </a:pPr>
            <a:r>
              <a:rPr lang="en" sz="1200">
                <a:solidFill>
                  <a:srgbClr val="265D71"/>
                </a:solidFill>
                <a:latin typeface="Arial"/>
                <a:ea typeface="Arial"/>
                <a:cs typeface="Arial"/>
                <a:sym typeface="Arial"/>
              </a:rPr>
              <a:t>Conv → BatchNorm → Tanh blocks</a:t>
            </a:r>
            <a:endParaRPr sz="1200">
              <a:solidFill>
                <a:srgbClr val="265D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○"/>
            </a:pPr>
            <a:r>
              <a:rPr lang="en" sz="1200">
                <a:solidFill>
                  <a:srgbClr val="265D71"/>
                </a:solidFill>
                <a:latin typeface="Arial"/>
                <a:ea typeface="Arial"/>
                <a:cs typeface="Arial"/>
                <a:sym typeface="Arial"/>
              </a:rPr>
              <a:t>Downsampling + Upsampling</a:t>
            </a:r>
            <a:endParaRPr sz="1200">
              <a:solidFill>
                <a:srgbClr val="265D7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Multi-scale feature learning preserved</a:t>
            </a:r>
            <a:endParaRPr b="0" sz="1200">
              <a:solidFill>
                <a:srgbClr val="265D7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65D71"/>
                </a:solidFill>
              </a:rPr>
              <a:t>Key Differences from Baseline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Adds text embedding projection layers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Introduces multimodal input (text + numerical)</a:t>
            </a:r>
            <a:endParaRPr b="0" sz="1200">
              <a:solidFill>
                <a:srgbClr val="265D7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5D71"/>
              </a:buClr>
              <a:buSzPts val="1200"/>
              <a:buChar char="●"/>
            </a:pPr>
            <a:r>
              <a:rPr b="0" lang="en" sz="1200">
                <a:solidFill>
                  <a:srgbClr val="265D71"/>
                </a:solidFill>
              </a:rPr>
              <a:t>Slightly higher model capacity</a:t>
            </a:r>
            <a:endParaRPr b="0" sz="1200">
              <a:solidFill>
                <a:srgbClr val="265D71"/>
              </a:solidFill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 b="23519" l="2943" r="3346" t="2264"/>
          <a:stretch/>
        </p:blipFill>
        <p:spPr>
          <a:xfrm>
            <a:off x="1158550" y="3384300"/>
            <a:ext cx="3343475" cy="14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225" y="1128743"/>
            <a:ext cx="4843110" cy="244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>
  <ns0:cSld>
    <ns0:spTree>
      <ns0:nvGrpSpPr>
        <ns0:cNvPr id="166" name="Shape 166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7" name="Google Shape;167;p28"/>
          <ns0:cNvSpPr txBox="1"/>
          <ns0:nvPr>
            <ns0:ph type="title"/>
          </ns0:nvPr>
        </ns0:nvSpPr>
        <ns0:spPr>
          <ns1:xfrm>
            <ns1:off x="338213" y="321768"/>
            <ns1:ext cx="7658400" cy="307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2400"/>
              </ns1:spcBef>
              <ns1:spcAft>
                <ns1:spcPts val="600"/>
              </ns1:spcAft>
              <ns1:buNone/>
            </ns1:pPr>
            <ns1:r>
              <ns1:rPr lang="en" sz="2000">
                <ns1:solidFill>
                  <ns1:srgbClr val="00C1D4"/>
                </ns1:solidFill>
                <ns1:latin typeface="Arial"/>
                <ns1:ea typeface="Arial"/>
                <ns1:cs typeface="Arial"/>
                <ns1:sym typeface="Arial"/>
              </ns1:rPr>
              <ns1:t>Methodology - AViT architecture</ns1:t>
            </ns1:r>
            <ns1:endParaRPr sz="2000">
              <ns1:solidFill>
                <ns1:srgbClr val="00C1D4"/>
              </ns1:solidFill>
            </ns1:endParaRPr>
          </ns1:p>
        </ns0:txBody>
      </ns0:sp>
      <ns0:sp>
        <ns0:nvSpPr>
          <ns0:cNvPr id="168" name="Google Shape;168;p28"/>
          <ns0:cNvSpPr txBox="1"/>
          <ns0:nvPr>
            <ns0:ph idx="1" type="body"/>
          </ns0:nvPr>
        </ns0:nvSpPr>
        <ns0:spPr>
          <ns1:xfrm>
            <ns1:off x="422156" y="1184279"/>
            <ns1:ext cx="3902400" cy="39282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1800"/>
              </ns1:spcBef>
              <ns1:spcAft>
                <ns1:spcPts val="0"/>
              </ns1:spcAft>
              <ns1:buClr>
                <ns1:schemeClr val="dk1"/>
              </ns1:buClr>
              <ns1:buSzPts val="1100"/>
              <ns1:buFont typeface="Arial"/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Model Overview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4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Total Parameters: ~14.84 Million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Representative transformer baseline for PDE comparison</ns1:t>
            </ns1:r>
            <ns1:endParaRPr b="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400"/>
              </ns1:spcBef>
              <ns1:spcAft>
                <ns1:spcPts val="0"/>
              </ns1:spcAft>
              <ns1:buClr>
                <ns1:schemeClr val="dk1"/>
              </ns1:buClr>
              <ns1:buSzPts val="1100"/>
              <ns1:buFont typeface="Arial"/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Input Processing (hMLP Stem)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4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Convolutional embedding layers: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1" marL="9144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○"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Conv → GroupNorm → GELU</ns1:t>
            </ns1:r>
            <ns1:endParaRPr sz="1200">
              <ns1:solidFill>
                <ns1:srgbClr val="265D71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Converts input fields into high-dimensional feature maps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chemeClr val="dk1"/>
              </ns1:buClr>
              <ns1:buSzPts val="1100"/>
              <ns1:buFont typeface="Arial"/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Acts as a bridge between CNNs and transformers</ns1:t>
            </ns1:r>
            <ns1:endParaRPr b="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400"/>
              </ns1:spcBef>
              <ns1:spcAft>
                <ns1:spcPts val="0"/>
              </ns1:spcAft>
              <ns1:buClr>
                <ns1:schemeClr val="dk1"/>
              </ns1:buClr>
              <ns1:buSzPts val="1100"/>
              <ns1:buFont typeface="Arial"/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Core: Axial attention blocks</ns1:t>
            </ns1:r>
            <ns1:r>
              <ns1:rPr b="0" lang="en" sz="1200">
                <ns1:solidFill>
                  <ns1:srgbClr val="265D71"/>
                </ns1:solidFill>
              </ns1:rPr>
              <ns1:t/>
            </ns1:r>
            <ns1:r>
              <ns1:rPr b="0" lang="en" sz="1200">
                <ns1:solidFill>
                  <ns1:srgbClr val="265D71"/>
                </ns1:solidFill>
              </ns1:rPr>
              <ns1:t/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Eight stacked attention blocks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Each block includes: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1" marL="9144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○"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LayerNorm</ns1:t>
            </ns1:r>
            <ns1:endParaRPr sz="1200">
              <ns1:solidFill>
                <ns1:srgbClr val="265D71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04800" lvl="1" marL="9144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○"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Linear projections</ns1:t>
            </ns1:r>
            <ns1:endParaRPr sz="1200">
              <ns1:solidFill>
                <ns1:srgbClr val="265D71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04800" lvl="1" marL="9144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○"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GELU activation</ns1:t>
            </ns1:r>
            <ns1:endParaRPr>
              <ns1:solidFill>
                <ns1:srgbClr val="265D71"/>
              </ns1:solidFill>
            </ns1:endParaRPr>
          </ns1:p>
        </ns0:txBody>
      </ns0:sp>
      <ns0:sp>
        <ns0:nvSpPr>
          <ns0:cNvPr id="169" name="Google Shape;169;p28"/>
          <ns0:cNvSpPr txBox="1"/>
          <ns0:nvPr>
            <ns0:ph idx="1" type="body"/>
          </ns0:nvPr>
        </ns0:nvSpPr>
        <ns0:spPr>
          <ns1:xfrm>
            <ns1:off x="4636200" y="1184275"/>
            <ns1:ext cx="3826800" cy="35802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1100"/>
              <ns1:buFont typeface="Arial"/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Key idea: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Applies attention separately along the x and y spatial axes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Captures long-range spatial dependencies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Output Reconstruction (hMLP Output)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ConvTranspose layers for upsampling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Reconstructs output PDE fields from embeddings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b="0" lang="en" sz="1200">
                <ns1:solidFill>
                  <ns1:srgbClr val="265D71"/>
                </ns1:solidFill>
              </ns1:rPr>
              <ns1:t>Key Characteristics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Uses attention rather than convolution for feature learning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Designed for global context modeling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Lower parameter count than UNet (~14.84M vs ~17.5M)</ns1:t>
            </ns1:r>
            <ns1:endParaRPr b="0" sz="1200"/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>
    <ns0:spTree>
      <ns0:nvGrpSpPr>
        <ns0:cNvPr id="173" name="Shape 173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4" name="Google Shape;174;p29"/>
          <ns0:cNvSpPr txBox="1"/>
          <ns0:nvPr>
            <ns0:ph type="title"/>
          </ns0:nvPr>
        </ns0:nvSpPr>
        <ns0:spPr>
          <ns1:xfrm>
            <ns1:off x="338213" y="321768"/>
            <ns1:ext cx="7658400" cy="307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2000">
                <ns1:solidFill>
                  <ns1:srgbClr val="00C1D4"/>
                </ns1:solidFill>
              </ns1:rPr>
              <ns1:t>Results Summary</ns1:t>
            </ns1:r>
            <ns1:endParaRPr sz="2000">
              <ns1:solidFill>
                <ns1:srgbClr val="00C1D4"/>
              </ns1:solidFill>
            </ns1:endParaRPr>
          </ns1:p>
        </ns0:txBody>
      </ns0:sp>
      <ns0:sp>
        <ns0:nvSpPr>
          <ns0:cNvPr id="175" name="Google Shape;175;p29"/>
          <ns0:cNvSpPr txBox="1"/>
          <ns0:nvPr>
            <ns0:ph idx="1" type="body"/>
          </ns0:nvPr>
        </ns0:nvSpPr>
        <ns0:spPr>
          <ns1:xfrm>
            <ns1:off x="422156" y="2776679"/>
            <ns1:ext cx="3902400" cy="1453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1400"/>
              </ns1:spcBef>
              <ns1:spcAft>
                <ns1:spcPts val="0"/>
              </ns1:spcAft>
              <ns1:buNone/>
            </ns1:pPr>
            <ns1:r>
              <ns1:rPr lang="en" sz="1500">
                <ns1:solidFill>
                  <ns1:srgbClr val="265D71"/>
                </ns1:solidFill>
              </ns1:rPr>
              <ns1:t>Key Takeaways</ns1:t>
            </ns1:r>
            <ns1:endParaRPr sz="15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UNet baseline is best on OOD rollout.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AViT runs are</ns1:t>
            </ns1:r>
            <ns1:r>
              <ns1:rPr lang="en" sz="1200">
                <ns1:solidFill>
                  <ns1:srgbClr val="265D71"/>
                </ns1:solidFill>
              </ns1:rPr>
              <ns1:t>about 3.0x-3.5x worse</ns1:t>
            </ns1:r>
            <ns1:endParaRPr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AViT runs: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1" marL="9144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○"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much higher rollout loss</ns1:t>
            </ns1:r>
            <ns1:endParaRPr sz="1200">
              <ns1:solidFill>
                <ns1:srgbClr val="265D71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04800" lvl="1" marL="9144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○"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No consistent evidence of transformer improvement</ns1:t>
            </ns1:r>
            <ns1:endParaRPr sz="1800">
              <ns1:solidFill>
                <ns1:srgbClr val="265D71"/>
              </ns1:solidFill>
            </ns1:endParaRPr>
          </ns1:p>
        </ns0:txBody>
      </ns0:sp>
      <ns0:sp>
        <ns0:nvSpPr>
          <ns0:cNvPr id="176" name="Google Shape;176;p29"/>
          <ns0:cNvSpPr txBox="1"/>
          <ns0:nvPr>
            <ns0:ph idx="1" type="body"/>
          </ns0:nvPr>
        </ns0:nvSpPr>
        <ns0:spPr>
          <ns1:xfrm>
            <ns1:off x="422150" y="4448775"/>
            <ns1:ext cx="7955100" cy="184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1200"/>
              </ns1:spcBef>
              <ns1:spcAft>
                <ns1:spcPts val="1200"/>
              </ns1:spcAft>
              <ns1:buNone/>
            </ns1:pPr>
            <ns1:r>
              <ns1:rPr lang="en" sz="1200">
                <ns1:solidFill>
                  <ns1:srgbClr val="265D71"/>
                </ns1:solidFill>
                <ns1:latin typeface="Arial"/>
                <ns1:ea typeface="Arial"/>
                <ns1:cs typeface="Arial"/>
                <ns1:sym typeface="Arial"/>
              </ns1:rPr>
              <ns1:t>Main takeaway: architecture matters more than simple text conditioning.</ns1:t>
            </ns1:r>
            <ns1:endParaRPr sz="1200">
              <ns1:solidFill>
                <ns1:srgbClr val="265D71"/>
              </ns1:solidFill>
            </ns1:endParaRPr>
          </ns1:p>
        </ns0:txBody>
      </ns0:sp>
      <ns0:graphicFrame>
        <ns0:nvGraphicFramePr>
          <ns0:cNvPr id="177" name="Google Shape;177;p29"/>
          <ns0:cNvGraphicFramePr/>
          <ns0:nvPr/>
        </ns0:nvGraphicFramePr>
        <ns0:xfrm>
          <ns1:off x="2612900" y="1079825"/>
          <ns1:ext cx="3000000" cy="3000000"/>
        </ns0:xfrm>
        <ns1:graphic>
          <ns1:graphicData uri="http://schemas.openxmlformats.org/drawingml/2006/table">
            <ns1:tbl>
              <ns1:tblPr>
                <ns1:noFill/>
                <ns1:tableStyleId>{44EE90AD-A6F4-451E-936C-52CD3CEF19C1}</ns1:tableStyleId>
              </ns1:tblPr>
              <ns1:tblGrid>
                <ns1:gridCol w="2177150"/>
                <ns1:gridCol w="958850"/>
                <ns1:gridCol w="1624400"/>
              </ns1:tblGrid>
              <ns1:tr h="219075"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🧠 Model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📉 Test Loss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ctr">
                        <ns1:lnSpc>
                          <ns1:spcPct val="115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📌 Observation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🟢 UNetClassic (baseline)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b="1" lang="en" sz="1100">
                          <ns1:solidFill>
                            <ns1:srgbClr val="265D71"/>
                          </ns1:solidFill>
                        </ns1:rPr>
                        <ns1:t>0.13623</ns1:t>
                      </ns1:r>
                      <ns1:endParaRPr b="1"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✅ Best performance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🟡 UNetClassic (conditioned)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0.13802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⚠️ Slightly worse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🔴 AViT (run A)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0.41496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⚠️ High loss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219075"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>
                          <ns1:schemeClr val="dk1"/>
                        </ns1:buClr>
                        <ns1:buSzPts val="1100"/>
                        <ns1:buFont typeface="Arial"/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🟠 AViT (run B)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>
                          <ns1:schemeClr val="dk1"/>
                        </ns1:buClr>
                        <ns1:buSzPts val="1100"/>
                        <ns1:buFont typeface="Arial"/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0.48020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rtl="0" algn="l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Clr>
                          <ns1:schemeClr val="dk1"/>
                        </ns1:buClr>
                        <ns1:buSzPts val="1100"/>
                        <ns1:buFont typeface="Arial"/>
                        <ns1:buNone/>
                      </ns1:pPr>
                      <ns1:r>
                        <ns1:rPr lang="en" sz="1100">
                          <ns1:solidFill>
                            <ns1:srgbClr val="265D71"/>
                          </ns1:solidFill>
                        </ns1:rPr>
                        <ns1:t>⚠️ High loss</ns1:t>
                      </ns1:r>
                      <ns1:endParaRPr sz="1100">
                        <ns1:solidFill>
                          <ns1:srgbClr val="265D71"/>
                        </ns1:solidFill>
                      </ns1:endParaRPr>
                    </ns1:p>
                  </ns1:txBody>
                  <ns1:tcPr marT="91425" marB="91425" marR="91425" marL="91425">
                    <ns1:lnL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9525">
                      <ns1:solidFill>
                        <ns1:srgbClr val="265D71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81" name="Shape 181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82" name="Google Shape;182;p30"/>
          <ns0:cNvSpPr txBox="1"/>
          <ns0:nvPr>
            <ns0:ph type="title"/>
          </ns0:nvPr>
        </ns0:nvSpPr>
        <ns0:spPr>
          <ns1:xfrm>
            <ns1:off x="338213" y="321768"/>
            <ns1:ext cx="7658400" cy="2925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/>
              <ns1:t>Qualitative Outputs</ns1:t>
            </ns1:r>
            <ns1:endParaRPr/>
          </ns1:p>
        </ns0:txBody>
      </ns0:sp>
      <ns0:sp>
        <ns0:nvSpPr>
          <ns0:cNvPr id="183" name="Google Shape;183;p30"/>
          <ns0:cNvSpPr txBox="1"/>
          <ns0:nvPr/>
        </ns0:nvSpPr>
        <ns0:spPr>
          <ns1:xfrm>
            <ns1:off x="5361400" y="2714794"/>
            <ns1:ext cx="2111700" cy="1965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91425" spcFirstLastPara="1" rIns="91425" wrap="square" tIns="91425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1100">
                <ns1:solidFill>
                  <ns1:srgbClr val="265D71"/>
                </ns1:solidFill>
              </ns1:rPr>
              <ns1:t>UNet conditioned</ns1:t>
            </ns1:r>
            <ns1:endParaRPr sz="1100">
              <ns1:solidFill>
                <ns1:srgbClr val="265D71"/>
              </ns1:solidFill>
            </ns1:endParaRPr>
          </ns1:p>
        </ns0:txBody>
      </ns0:sp>
      <ns0:sp>
        <ns0:nvSpPr>
          <ns0:cNvPr id="184" name="Google Shape;184;p30"/>
          <ns0:cNvSpPr txBox="1"/>
          <ns0:nvPr/>
        </ns0:nvSpPr>
        <ns0:spPr>
          <ns1:xfrm>
            <ns1:off x="1550656" y="2733566"/>
            <ns1:ext cx="2111700" cy="1965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91425" spcFirstLastPara="1" rIns="91425" wrap="square" tIns="91425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1100">
                <ns1:solidFill>
                  <ns1:srgbClr val="265D71"/>
                </ns1:solidFill>
              </ns1:rPr>
              <ns1:t>UNet baseline</ns1:t>
            </ns1:r>
            <ns1:endParaRPr sz="1100">
              <ns1:solidFill>
                <ns1:srgbClr val="265D71"/>
              </ns1:solidFill>
            </ns1:endParaRPr>
          </ns1:p>
        </ns0:txBody>
      </ns0:sp>
      <ns0:pic>
        <ns0:nvPicPr>
          <ns0:cNvPr id="185" name="Google Shape;185;p30"/>
          <ns0:cNvPicPr preferRelativeResize="0"/>
          <ns0:nvPr/>
        </ns0:nvPicPr>
        <ns0:blipFill>
          <ns1:blip ns2:embed="rId3">
            <ns1:alphaModFix/>
          </ns1:blip>
          <ns1:stretch>
            <ns1:fillRect/>
          </ns1:stretch>
        </ns0:blipFill>
        <ns0:spPr>
          <ns1:xfrm>
            <ns1:off x="1361294" y="1107874"/>
            <ns1:ext cx="2490425" cy="1651600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86" name="Google Shape;186;p30"/>
          <ns0:cNvPicPr preferRelativeResize="0"/>
          <ns0:nvPr/>
        </ns0:nvPicPr>
        <ns0:blipFill>
          <ns1:blip ns2:embed="rId4">
            <ns1:alphaModFix/>
          </ns1:blip>
          <ns1:stretch>
            <ns1:fillRect/>
          </ns1:stretch>
        </ns0:blipFill>
        <ns0:spPr>
          <ns1:xfrm>
            <ns1:off x="5172038" y="1107875"/>
            <ns1:ext cx="2490424" cy="1608076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87" name="Google Shape;187;p30"/>
          <ns0:cNvPicPr preferRelativeResize="0"/>
          <ns0:nvPr/>
        </ns0:nvPicPr>
        <ns0:blipFill>
          <ns1:blip ns2:embed="rId5">
            <ns1:alphaModFix/>
          </ns1:blip>
          <ns1:stretch>
            <ns1:fillRect/>
          </ns1:stretch>
        </ns0:blipFill>
        <ns0:spPr>
          <ns1:xfrm>
            <ns1:off x="5172037" y="3041017"/>
            <ns1:ext cx="2490424" cy="1618254"/>
          </ns1:xfrm>
          <ns1:prstGeom prst="rect">
            <ns1:avLst/>
          </ns1:prstGeom>
          <ns1:noFill/>
          <ns1:ln>
            <ns1:noFill/>
          </ns1:ln>
        </ns0:spPr>
      </ns0:pic>
      <ns0:sp>
        <ns0:nvSpPr>
          <ns0:cNvPr id="188" name="Google Shape;188;p30"/>
          <ns0:cNvSpPr txBox="1"/>
          <ns0:nvPr/>
        </ns0:nvSpPr>
        <ns0:spPr>
          <ns1:xfrm>
            <ns1:off x="5361400" y="4659287"/>
            <ns1:ext cx="2111700" cy="1965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91425" spcFirstLastPara="1" rIns="91425" wrap="square" tIns="91425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1100">
                <ns1:solidFill>
                  <ns1:srgbClr val="265D71"/>
                </ns1:solidFill>
              </ns1:rPr>
              <ns1:t>AViT (run A, lower-loss)</ns1:t>
            </ns1:r>
            <ns1:r>
              <ns1:rPr lang="en" sz="1100">
                <ns1:solidFill>
                  <ns1:srgbClr val="265D71"/>
                </ns1:solidFill>
              </ns1:rPr>
              <ns1:t/>
            </ns1:r>
            <ns1:endParaRPr sz="1100">
              <ns1:solidFill>
                <ns1:srgbClr val="265D71"/>
              </ns1:solidFill>
            </ns1:endParaRPr>
          </ns1:p>
        </ns0:txBody>
      </ns0:sp>
      <ns0:pic>
        <ns0:nvPicPr>
          <ns0:cNvPr id="189" name="Google Shape;189;p30"/>
          <ns0:cNvPicPr preferRelativeResize="0"/>
          <ns0:nvPr/>
        </ns0:nvPicPr>
        <ns0:blipFill>
          <ns1:blip ns2:embed="rId6">
            <ns1:alphaModFix/>
          </ns1:blip>
          <ns1:stretch>
            <ns1:fillRect/>
          </ns1:stretch>
        </ns0:blipFill>
        <ns0:spPr>
          <ns1:xfrm>
            <ns1:off x="1361306" y="3041031"/>
            <ns1:ext cx="2490425" cy="1642730"/>
          </ns1:xfrm>
          <ns1:prstGeom prst="rect">
            <ns1:avLst/>
          </ns1:prstGeom>
          <ns1:noFill/>
          <ns1:ln>
            <ns1:noFill/>
          </ns1:ln>
        </ns0:spPr>
      </ns0:pic>
      <ns0:sp>
        <ns0:nvSpPr>
          <ns0:cNvPr id="190" name="Google Shape;190;p30"/>
          <ns0:cNvSpPr txBox="1"/>
          <ns0:nvPr/>
        </ns0:nvSpPr>
        <ns0:spPr>
          <ns1:xfrm>
            <ns1:off x="1550669" y="4653228"/>
            <ns1:ext cx="2111700" cy="1965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91425" spcFirstLastPara="1" rIns="91425" wrap="square" tIns="91425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1100">
                <ns1:solidFill>
                  <ns1:srgbClr val="265D71"/>
                </ns1:solidFill>
              </ns1:rPr>
              <ns1:t>AViT (run B, higher-loss)</ns1:t>
            </ns1:r>
            <ns1:endParaRPr sz="1100">
              <ns1:solidFill>
                <ns1:srgbClr val="265D71"/>
              </ns1:solidFill>
            </ns1:endParaRP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>
  <ns0:cSld>
    <ns0:spTree>
      <ns0:nvGrpSpPr>
        <ns0:cNvPr id="194" name="Shape 194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5" name="Google Shape;195;p31"/>
          <ns0:cNvSpPr txBox="1"/>
          <ns0:nvPr>
            <ns0:ph type="title"/>
          </ns0:nvPr>
        </ns0:nvSpPr>
        <ns0:spPr>
          <ns1:xfrm>
            <ns1:off x="338213" y="321768"/>
            <ns1:ext cx="7658400" cy="3078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 sz="2000">
                <ns1:solidFill>
                  <ns1:srgbClr val="00C1D4"/>
                </ns1:solidFill>
              </ns1:rPr>
              <ns1:t>Interpretation &amp; Insights</ns1:t>
            </ns1:r>
            <ns1:endParaRPr sz="2000">
              <ns1:solidFill>
                <ns1:srgbClr val="00C1D4"/>
              </ns1:solidFill>
            </ns1:endParaRPr>
          </ns1:p>
        </ns0:txBody>
      </ns0:sp>
      <ns0:sp>
        <ns0:nvSpPr>
          <ns0:cNvPr id="196" name="Google Shape;196;p31"/>
          <ns0:cNvSpPr txBox="1"/>
          <ns0:nvPr>
            <ns0:ph idx="1" type="body"/>
          </ns0:nvPr>
        </ns0:nvSpPr>
        <ns0:spPr>
          <ns1:xfrm>
            <ns1:off x="422151" y="1184275"/>
            <ns1:ext cx="8310900" cy="365730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spAutoFit/>
          </ns1:bodyPr>
          <ns1:lstStyle/>
          <ns1:p>
            <ns1:pPr indent="0" lvl="0" marL="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Why Conditioning Underperforms</ns1:t>
            </ns1:r>
            <ns1:endParaRPr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Redundant dataset info already encoded in channels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Overfitting due to added embedding parameters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Weak alignment between text embeddings and UNet features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Why AViT Performs Poorly</ns1:t>
            </ns1:r>
            <ns1:endParaRPr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Not suited for local PDE dynamics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Needs more data and longer training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Weaker temporal modeling than UNet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None/>
            </ns1:pPr>
            <ns1:r>
              <ns1:rPr lang="en" sz="1200">
                <ns1:solidFill>
                  <ns1:srgbClr val="265D71"/>
                </ns1:solidFill>
              </ns1:rPr>
              <ns1:t>Final Takeaways</ns1:t>
            </ns1:r>
            <ns1:endParaRPr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120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UNet works best for grid-based PDEs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Text conditioning (current design) does not improve performance</ns1:t>
            </ns1:r>
            <ns1:endParaRPr b="0" sz="1200">
              <ns1:solidFill>
                <ns1:srgbClr val="265D71"/>
              </ns1:solidFill>
            </ns1:endParaRPr>
          </ns1:p>
          <ns1:p>
            <ns1:pPr indent="-304800" lvl="0" marL="45720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265D71"/>
              </ns1:buClr>
              <ns1:buSzPts val="1200"/>
              <ns1:buChar char="●"/>
            </ns1:pPr>
            <ns1:r>
              <ns1:rPr b="0" lang="en" sz="1200">
                <ns1:solidFill>
                  <ns1:srgbClr val="265D71"/>
                </ns1:solidFill>
              </ns1:rPr>
              <ns1:t>Transformers underperform due to task mismatch</ns1:t>
            </ns1:r>
            <ns1:endParaRPr b="0" sz="1200">
              <ns1:solidFill>
                <ns1:srgbClr val="265D71"/>
              </ns1:solidFill>
            </ns1:endParaRPr>
          </ns1:p>
          <ns1:p>
            <ns1:pPr indent="0" lvl="0" marL="0" rtl="0" algn="l">
              <ns1:spcBef>
                <ns1:spcPts val="1200"/>
              </ns1:spcBef>
              <ns1:spcAft>
                <ns1:spcPts val="0"/>
              </ns1:spcAft>
              <ns1:buNone/>
            </ns1:pPr>
            <ns1:r>
              <ns1:t/>
            </ns1:r>
            <ns1:endParaRPr sz="1200">
              <ns1:solidFill>
                <ns1:srgbClr val="265D71"/>
              </ns1:solidFill>
            </ns1:endParaRP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 showMasterSp="0">
  <ns0:cSld>
    <ns0:spTree>
      <ns0:nvGrpSpPr>
        <ns0:cNvPr id="200" name="Shape 200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201" name="Google Shape;201;p32"/>
          <ns0:cNvGraphicFramePr/>
          <ns0:nvPr/>
        </ns0:nvGraphicFramePr>
        <ns0:xfrm>
          <ns1:off x="139304" y="136820"/>
          <ns1:ext cx="3000000" cy="3000000"/>
        </ns0:xfrm>
        <ns1:graphic>
          <ns1:graphicData uri="http://schemas.openxmlformats.org/drawingml/2006/table">
            <ns1:tbl>
              <ns1:tblPr bandRow="1" firstRow="1">
                <ns1:noFill/>
                <ns1:tableStyleId>{2D2392A9-7921-404D-B8B9-425882F68BBC}</ns1:tableStyleId>
              </ns1:tblPr>
              <ns1:tblGrid>
                <ns1:gridCol w="7989075"/>
                <ns1:gridCol w="866775"/>
              </ns1:tblGrid>
              <ns1:tr h="863925">
                <ns1:tc>
                  <ns1:txBody>
                    <ns1:bodyPr/>
                    <ns1:lstStyle/>
                    <ns1:p>
                      <ns1:pPr indent="0" lvl="0" marL="43180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900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>Limitations and Next Steps</ns1:t>
                      </ns1:r>
                      <ns1:r>
                        <ns1:rPr lang="en" sz="1900" u="none" cap="none" strike="noStrike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/>
                      </ns1:r>
                      <ns1:r>
                        <ns1:rPr lang="en" sz="1900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/>
                      </ns1:r>
                      <ns1:endParaRPr sz="1900" u="none" cap="none" strike="noStrike">
                        <ns1:latin typeface="Lucida Sans"/>
                        <ns1:ea typeface="Lucida Sans"/>
                        <ns1:cs typeface="Lucida Sans"/>
                        <ns1:sym typeface="Lucida Sans"/>
                      </ns1:endParaRPr>
                    </ns1:p>
                  </ns1:txBody>
                  <ns1:tcPr marT="269075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14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1565425">
                <ns1:tc rowSpan="3">
                  <ns1:txBody>
                    <ns1:bodyPr/>
                    <ns1:lstStyle/>
                    <ns1:p>
                      <ns1:pPr indent="0" lvl="0" marL="914400" rtl="0" algn="l">
                        <ns1:spcBef>
                          <ns1:spcPts val="80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1200">
                        <ns1:solidFill>
                          <ns1:srgbClr val="265D7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  <ns1:p>
                      <ns1:pPr indent="0" lvl="0" marL="914400" rtl="0" algn="l">
                        <ns1:spcBef>
                          <ns1:spcPts val="80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1200">
                        <ns1:solidFill>
                          <ns1:srgbClr val="265D7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  <ns1:p>
                      <ns1:pPr indent="-304800" lvl="1" marL="914400" rtl="0" algn="l">
                        <ns1:spcBef>
                          <ns1:spcPts val="800"/>
                        </ns1:spcBef>
                        <ns1:spcAft>
                          <ns1:spcPts val="0"/>
                        </ns1:spcAft>
                        <ns1:buClr>
                          <ns1:srgbClr val="265D71"/>
                        </ns1:buClr>
                        <ns1:buSzPts val="1200"/>
                        <ns1:buChar char="○"/>
                      </ns1:pPr>
                      <ns1:r>
                        <ns1:rPr lang="en" sz="1200">
                          <ns1:solidFill>
                            <ns1:srgbClr val="265D7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>Simple input-level text fusion may be too weak</ns1:t>
                      </ns1:r>
                      <ns1:endParaRPr sz="1200">
                        <ns1:solidFill>
                          <ns1:srgbClr val="265D7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  <ns1:p>
                      <ns1:pPr indent="-304800" lvl="1" marL="914400" rtl="0" algn="l">
                        <ns1:spcBef>
                          <ns1:spcPts val="800"/>
                        </ns1:spcBef>
                        <ns1:spcAft>
                          <ns1:spcPts val="0"/>
                        </ns1:spcAft>
                        <ns1:buClr>
                          <ns1:srgbClr val="265D71"/>
                        </ns1:buClr>
                        <ns1:buSzPts val="1200"/>
                        <ns1:buChar char="○"/>
                      </ns1:pPr>
                      <ns1:r>
                        <ns1:rPr lang="en" sz="1200">
                          <ns1:solidFill>
                            <ns1:srgbClr val="265D7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>Evaluation uses a limited set of PDE families and one main OOD benchmark</ns1:t>
                      </ns1:r>
                      <ns1:endParaRPr sz="1200">
                        <ns1:solidFill>
                          <ns1:srgbClr val="265D7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  <ns1:p>
                      <ns1:pPr indent="-304800" lvl="1" marL="914400" rtl="0" algn="l">
                        <ns1:spcBef>
                          <ns1:spcPts val="800"/>
                        </ns1:spcBef>
                        <ns1:spcAft>
                          <ns1:spcPts val="0"/>
                        </ns1:spcAft>
                        <ns1:buClr>
                          <ns1:srgbClr val="265D71"/>
                        </ns1:buClr>
                        <ns1:buSzPts val="1200"/>
                        <ns1:buChar char="○"/>
                      </ns1:pPr>
                      <ns1:r>
                        <ns1:rPr lang="en" sz="1200">
                          <ns1:solidFill>
                            <ns1:srgbClr val="265D7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>The AViT comparison reflects representative runs, not a dedicated conditioned AViT model</ns1:t>
                      </ns1:r>
                      <ns1:endParaRPr sz="1200">
                        <ns1:solidFill>
                          <ns1:srgbClr val="265D7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  <ns1:p>
                      <ns1:pPr indent="-304800" lvl="1" marL="914400" rtl="0" algn="l">
                        <ns1:spcBef>
                          <ns1:spcPts val="800"/>
                        </ns1:spcBef>
                        <ns1:spcAft>
                          <ns1:spcPts val="0"/>
                        </ns1:spcAft>
                        <ns1:buClr>
                          <ns1:srgbClr val="265D71"/>
                        </ns1:buClr>
                        <ns1:buSzPts val="1200"/>
                        <ns1:buChar char="○"/>
                      </ns1:pPr>
                      <ns1:r>
                        <ns1:rPr lang="en" sz="1200">
                          <ns1:solidFill>
                            <ns1:srgbClr val="265D7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>Next steps: stronger fusion, richer embeddings, more datasets, and broader ablations</ns1:t>
                      </ns1:r>
                      <ns1:endParaRPr sz="1200">
                        <ns1:solidFill>
                          <ns1:srgbClr val="265D71"/>
                        </ns1:solidFill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14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1997400">
                <ns1:tc vMerge="1"/>
                <ns1:tc>
                  <ns1:txBody>
                    <ns1:bodyPr/>
                    <ns1:lstStyle/>
                    <ns1:p>
                      <ns1:pPr indent="0" lvl="0" marL="0" marR="0" rtl="0" algn="l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t/>
                      </ns1:r>
                      <ns1:endParaRPr sz="1400" u="none" cap="none" strike="noStrike">
                        <ns1:latin typeface="Times New Roman"/>
                        <ns1:ea typeface="Times New Roman"/>
                        <ns1:cs typeface="Times New Roman"/>
                        <ns1:sym typeface="Times New Roman"/>
                      </ns1:endParaRPr>
                    </ns1:p>
                  </ns1:txBody>
                  <ns1:tcPr marT="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  <ns1:tr h="431950">
                <ns1:tc vMerge="1"/>
                <ns1:tc>
                  <ns1:txBody>
                    <ns1:bodyPr/>
                    <ns1:lstStyle/>
                    <ns1:p>
                      <ns1:pPr indent="0" lvl="0" marL="0" marR="0" rtl="0" algn="ctr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" sz="1400" u="none" cap="none" strike="noStrike">
                          <ns1:solidFill>
                            <ns1:srgbClr val="00C1D4"/>
                          </ns1:solidFill>
                          <ns1:latin typeface="Lucida Sans"/>
                          <ns1:ea typeface="Lucida Sans"/>
                          <ns1:cs typeface="Lucida Sans"/>
                          <ns1:sym typeface="Lucida Sans"/>
                        </ns1:rPr>
                        <ns1:t/>
                      </ns1:r>
                      <ns1:endParaRPr sz="1400" u="none" cap="none" strike="noStrike">
                        <ns1:latin typeface="Lucida Sans"/>
                        <ns1:ea typeface="Lucida Sans"/>
                        <ns1:cs typeface="Lucida Sans"/>
                        <ns1:sym typeface="Lucida Sans"/>
                      </ns1:endParaRPr>
                    </ns1:p>
                  </ns1:txBody>
                  <ns1:tcPr marT="106200" marB="0" marR="0" marL="0">
                    <ns1:lnL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L>
                    <ns1:lnR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R>
                    <ns1:lnT cap="flat" cmpd="sng" w="1270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T>
                    <ns1:lnB cap="flat" cmpd="sng" w="19050">
                      <ns1:solidFill>
                        <ns1:srgbClr val="00C1D4"/>
                      </ns1:solidFill>
                      <ns1:prstDash val="solid"/>
                      <ns1:round/>
                      <ns1:headEnd len="sm" w="sm" type="none"/>
                      <ns1:tailEnd len="sm" w="sm" type="none"/>
                    </ns1:lnB>
                  </ns1:tcPr>
                </ns1:tc>
              </ns1:tr>
            </ns1:tbl>
          </ns1:graphicData>
        </ns1:graphic>
      </ns0:graphicFrame>
      <ns0:pic>
        <ns0:nvPicPr>
          <ns0:cNvPr id="202" name="Google Shape;202;p32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8354598" y="352146"/>
            <ns1:ext cx="427470" cy="120928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/>
          <p:nvPr/>
        </p:nvSpPr>
        <p:spPr>
          <a:xfrm>
            <a:off x="144067" y="141591"/>
            <a:ext cx="8855869" cy="4860608"/>
          </a:xfrm>
          <a:custGeom>
            <a:rect b="b" l="l" r="r" t="t"/>
            <a:pathLst>
              <a:path extrusionOk="0" h="6480809" w="11807825">
                <a:moveTo>
                  <a:pt x="4537855" y="2368642"/>
                </a:moveTo>
                <a:lnTo>
                  <a:pt x="4537855" y="6480571"/>
                </a:lnTo>
              </a:path>
              <a:path extrusionOk="0" h="6480809" w="11807825">
                <a:moveTo>
                  <a:pt x="0" y="2368642"/>
                </a:moveTo>
                <a:lnTo>
                  <a:pt x="5903910" y="2368642"/>
                </a:lnTo>
              </a:path>
              <a:path extrusionOk="0" h="6480809" w="11807825">
                <a:moveTo>
                  <a:pt x="5903912" y="0"/>
                </a:moveTo>
                <a:lnTo>
                  <a:pt x="5903912" y="6480300"/>
                </a:lnTo>
              </a:path>
              <a:path extrusionOk="0" h="6480809" w="11807825">
                <a:moveTo>
                  <a:pt x="0" y="124"/>
                </a:moveTo>
                <a:lnTo>
                  <a:pt x="11807824" y="124"/>
                </a:lnTo>
                <a:lnTo>
                  <a:pt x="11807824" y="6480300"/>
                </a:lnTo>
                <a:lnTo>
                  <a:pt x="0" y="6480300"/>
                </a:lnTo>
                <a:lnTo>
                  <a:pt x="0" y="124"/>
                </a:lnTo>
                <a:close/>
              </a:path>
            </a:pathLst>
          </a:custGeom>
          <a:noFill/>
          <a:ln cap="flat" cmpd="sng" w="12675">
            <a:solidFill>
              <a:srgbClr val="00C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8" name="Google Shape;208;p33"/>
          <p:cNvSpPr txBox="1"/>
          <p:nvPr/>
        </p:nvSpPr>
        <p:spPr>
          <a:xfrm>
            <a:off x="560038" y="4268480"/>
            <a:ext cx="993934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C1D4"/>
                </a:solidFill>
                <a:latin typeface="Lucida Sans"/>
                <a:ea typeface="Lucida Sans"/>
                <a:cs typeface="Lucida Sans"/>
                <a:sym typeface="Lucida Sans"/>
              </a:rPr>
              <a:t>tuhh.de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09" name="Google Shape;209;p33"/>
          <p:cNvGrpSpPr/>
          <p:nvPr/>
        </p:nvGrpSpPr>
        <p:grpSpPr>
          <a:xfrm>
            <a:off x="144067" y="644146"/>
            <a:ext cx="8424855" cy="4358120"/>
            <a:chOff x="192089" y="858862"/>
            <a:chExt cx="11233140" cy="5810827"/>
          </a:xfrm>
        </p:grpSpPr>
        <p:sp>
          <p:nvSpPr>
            <p:cNvPr id="210" name="Google Shape;210;p33"/>
            <p:cNvSpPr/>
            <p:nvPr/>
          </p:nvSpPr>
          <p:spPr>
            <a:xfrm>
              <a:off x="192089" y="2557429"/>
              <a:ext cx="5904230" cy="4112260"/>
            </a:xfrm>
            <a:custGeom>
              <a:rect b="b" l="l" r="r" t="t"/>
              <a:pathLst>
                <a:path extrusionOk="0" h="4112259" w="5904230">
                  <a:moveTo>
                    <a:pt x="0" y="2743777"/>
                  </a:moveTo>
                  <a:lnTo>
                    <a:pt x="5903903" y="2743777"/>
                  </a:lnTo>
                </a:path>
                <a:path extrusionOk="0" h="4112259" w="5904230">
                  <a:moveTo>
                    <a:pt x="4537855" y="1375772"/>
                  </a:moveTo>
                  <a:lnTo>
                    <a:pt x="5903910" y="1375772"/>
                  </a:lnTo>
                </a:path>
                <a:path extrusionOk="0" h="4112259" w="5904230">
                  <a:moveTo>
                    <a:pt x="4537853" y="683024"/>
                  </a:moveTo>
                  <a:lnTo>
                    <a:pt x="4539568" y="634246"/>
                  </a:lnTo>
                  <a:lnTo>
                    <a:pt x="4544636" y="586392"/>
                  </a:lnTo>
                  <a:lnTo>
                    <a:pt x="4552941" y="539581"/>
                  </a:lnTo>
                  <a:lnTo>
                    <a:pt x="4564368" y="493925"/>
                  </a:lnTo>
                  <a:lnTo>
                    <a:pt x="4578801" y="449543"/>
                  </a:lnTo>
                  <a:lnTo>
                    <a:pt x="4596125" y="406548"/>
                  </a:lnTo>
                  <a:lnTo>
                    <a:pt x="4616223" y="365057"/>
                  </a:lnTo>
                  <a:lnTo>
                    <a:pt x="4638981" y="325185"/>
                  </a:lnTo>
                  <a:lnTo>
                    <a:pt x="4664282" y="287048"/>
                  </a:lnTo>
                  <a:lnTo>
                    <a:pt x="4692012" y="250761"/>
                  </a:lnTo>
                  <a:lnTo>
                    <a:pt x="4722055" y="216440"/>
                  </a:lnTo>
                  <a:lnTo>
                    <a:pt x="4754294" y="184201"/>
                  </a:lnTo>
                  <a:lnTo>
                    <a:pt x="4788615" y="154158"/>
                  </a:lnTo>
                  <a:lnTo>
                    <a:pt x="4824902" y="126428"/>
                  </a:lnTo>
                  <a:lnTo>
                    <a:pt x="4863039" y="101127"/>
                  </a:lnTo>
                  <a:lnTo>
                    <a:pt x="4902911" y="78369"/>
                  </a:lnTo>
                  <a:lnTo>
                    <a:pt x="4944402" y="58271"/>
                  </a:lnTo>
                  <a:lnTo>
                    <a:pt x="4987397" y="40947"/>
                  </a:lnTo>
                  <a:lnTo>
                    <a:pt x="5031779" y="26514"/>
                  </a:lnTo>
                  <a:lnTo>
                    <a:pt x="5077435" y="15087"/>
                  </a:lnTo>
                  <a:lnTo>
                    <a:pt x="5124246" y="6782"/>
                  </a:lnTo>
                  <a:lnTo>
                    <a:pt x="5172100" y="1714"/>
                  </a:lnTo>
                  <a:lnTo>
                    <a:pt x="5220878" y="0"/>
                  </a:lnTo>
                  <a:lnTo>
                    <a:pt x="5270070" y="1772"/>
                  </a:lnTo>
                  <a:lnTo>
                    <a:pt x="5318722" y="7041"/>
                  </a:lnTo>
                  <a:lnTo>
                    <a:pt x="5366661" y="15736"/>
                  </a:lnTo>
                  <a:lnTo>
                    <a:pt x="5413715" y="27785"/>
                  </a:lnTo>
                  <a:lnTo>
                    <a:pt x="5459712" y="43117"/>
                  </a:lnTo>
                  <a:lnTo>
                    <a:pt x="5504480" y="61660"/>
                  </a:lnTo>
                  <a:lnTo>
                    <a:pt x="5547847" y="83344"/>
                  </a:lnTo>
                  <a:lnTo>
                    <a:pt x="5589639" y="108097"/>
                  </a:lnTo>
                  <a:lnTo>
                    <a:pt x="5629685" y="135846"/>
                  </a:lnTo>
                  <a:lnTo>
                    <a:pt x="5667813" y="166522"/>
                  </a:lnTo>
                  <a:lnTo>
                    <a:pt x="5703850" y="200053"/>
                  </a:lnTo>
                  <a:lnTo>
                    <a:pt x="5737381" y="236090"/>
                  </a:lnTo>
                  <a:lnTo>
                    <a:pt x="5768057" y="274218"/>
                  </a:lnTo>
                  <a:lnTo>
                    <a:pt x="5795807" y="314264"/>
                  </a:lnTo>
                  <a:lnTo>
                    <a:pt x="5820559" y="356056"/>
                  </a:lnTo>
                  <a:lnTo>
                    <a:pt x="5842243" y="399423"/>
                  </a:lnTo>
                  <a:lnTo>
                    <a:pt x="5860786" y="444191"/>
                  </a:lnTo>
                  <a:lnTo>
                    <a:pt x="5876118" y="490188"/>
                  </a:lnTo>
                  <a:lnTo>
                    <a:pt x="5888167" y="537242"/>
                  </a:lnTo>
                  <a:lnTo>
                    <a:pt x="5896862" y="585181"/>
                  </a:lnTo>
                  <a:lnTo>
                    <a:pt x="5902131" y="633833"/>
                  </a:lnTo>
                  <a:lnTo>
                    <a:pt x="5903903" y="683024"/>
                  </a:lnTo>
                  <a:lnTo>
                    <a:pt x="5902189" y="731803"/>
                  </a:lnTo>
                  <a:lnTo>
                    <a:pt x="5897121" y="779657"/>
                  </a:lnTo>
                  <a:lnTo>
                    <a:pt x="5888816" y="826468"/>
                  </a:lnTo>
                  <a:lnTo>
                    <a:pt x="5877389" y="872124"/>
                  </a:lnTo>
                  <a:lnTo>
                    <a:pt x="5862956" y="916506"/>
                  </a:lnTo>
                  <a:lnTo>
                    <a:pt x="5845632" y="959501"/>
                  </a:lnTo>
                  <a:lnTo>
                    <a:pt x="5825534" y="1000992"/>
                  </a:lnTo>
                  <a:lnTo>
                    <a:pt x="5802776" y="1040864"/>
                  </a:lnTo>
                  <a:lnTo>
                    <a:pt x="5777475" y="1079001"/>
                  </a:lnTo>
                  <a:lnTo>
                    <a:pt x="5749745" y="1115288"/>
                  </a:lnTo>
                  <a:lnTo>
                    <a:pt x="5719702" y="1149609"/>
                  </a:lnTo>
                  <a:lnTo>
                    <a:pt x="5687463" y="1181848"/>
                  </a:lnTo>
                  <a:lnTo>
                    <a:pt x="5653142" y="1211891"/>
                  </a:lnTo>
                  <a:lnTo>
                    <a:pt x="5616855" y="1239621"/>
                  </a:lnTo>
                  <a:lnTo>
                    <a:pt x="5578718" y="1264922"/>
                  </a:lnTo>
                  <a:lnTo>
                    <a:pt x="5538846" y="1287680"/>
                  </a:lnTo>
                  <a:lnTo>
                    <a:pt x="5497355" y="1307778"/>
                  </a:lnTo>
                  <a:lnTo>
                    <a:pt x="5454360" y="1325102"/>
                  </a:lnTo>
                  <a:lnTo>
                    <a:pt x="5409978" y="1339535"/>
                  </a:lnTo>
                  <a:lnTo>
                    <a:pt x="5364322" y="1350962"/>
                  </a:lnTo>
                  <a:lnTo>
                    <a:pt x="5317511" y="1359267"/>
                  </a:lnTo>
                  <a:lnTo>
                    <a:pt x="5269657" y="1364335"/>
                  </a:lnTo>
                  <a:lnTo>
                    <a:pt x="5220878" y="1366049"/>
                  </a:lnTo>
                  <a:lnTo>
                    <a:pt x="5172100" y="1364335"/>
                  </a:lnTo>
                  <a:lnTo>
                    <a:pt x="5124246" y="1359267"/>
                  </a:lnTo>
                  <a:lnTo>
                    <a:pt x="5077435" y="1350962"/>
                  </a:lnTo>
                  <a:lnTo>
                    <a:pt x="5031779" y="1339535"/>
                  </a:lnTo>
                  <a:lnTo>
                    <a:pt x="4987397" y="1325102"/>
                  </a:lnTo>
                  <a:lnTo>
                    <a:pt x="4944402" y="1307778"/>
                  </a:lnTo>
                  <a:lnTo>
                    <a:pt x="4902911" y="1287680"/>
                  </a:lnTo>
                  <a:lnTo>
                    <a:pt x="4863039" y="1264922"/>
                  </a:lnTo>
                  <a:lnTo>
                    <a:pt x="4824902" y="1239621"/>
                  </a:lnTo>
                  <a:lnTo>
                    <a:pt x="4788615" y="1211891"/>
                  </a:lnTo>
                  <a:lnTo>
                    <a:pt x="4754294" y="1181848"/>
                  </a:lnTo>
                  <a:lnTo>
                    <a:pt x="4722055" y="1149609"/>
                  </a:lnTo>
                  <a:lnTo>
                    <a:pt x="4692012" y="1115288"/>
                  </a:lnTo>
                  <a:lnTo>
                    <a:pt x="4664282" y="1079001"/>
                  </a:lnTo>
                  <a:lnTo>
                    <a:pt x="4638981" y="1040864"/>
                  </a:lnTo>
                  <a:lnTo>
                    <a:pt x="4616223" y="1000992"/>
                  </a:lnTo>
                  <a:lnTo>
                    <a:pt x="4596125" y="959501"/>
                  </a:lnTo>
                  <a:lnTo>
                    <a:pt x="4578801" y="916506"/>
                  </a:lnTo>
                  <a:lnTo>
                    <a:pt x="4564368" y="872124"/>
                  </a:lnTo>
                  <a:lnTo>
                    <a:pt x="4552941" y="826468"/>
                  </a:lnTo>
                  <a:lnTo>
                    <a:pt x="4544636" y="779657"/>
                  </a:lnTo>
                  <a:lnTo>
                    <a:pt x="4539568" y="731803"/>
                  </a:lnTo>
                  <a:lnTo>
                    <a:pt x="4537853" y="683024"/>
                  </a:lnTo>
                  <a:close/>
                </a:path>
                <a:path extrusionOk="0" h="4112259" w="5904230">
                  <a:moveTo>
                    <a:pt x="4537853" y="2055964"/>
                  </a:moveTo>
                  <a:lnTo>
                    <a:pt x="4539568" y="2007186"/>
                  </a:lnTo>
                  <a:lnTo>
                    <a:pt x="4544636" y="1959332"/>
                  </a:lnTo>
                  <a:lnTo>
                    <a:pt x="4552941" y="1912521"/>
                  </a:lnTo>
                  <a:lnTo>
                    <a:pt x="4564368" y="1866865"/>
                  </a:lnTo>
                  <a:lnTo>
                    <a:pt x="4578801" y="1822483"/>
                  </a:lnTo>
                  <a:lnTo>
                    <a:pt x="4596125" y="1779488"/>
                  </a:lnTo>
                  <a:lnTo>
                    <a:pt x="4616223" y="1737997"/>
                  </a:lnTo>
                  <a:lnTo>
                    <a:pt x="4638981" y="1698125"/>
                  </a:lnTo>
                  <a:lnTo>
                    <a:pt x="4664282" y="1659988"/>
                  </a:lnTo>
                  <a:lnTo>
                    <a:pt x="4692012" y="1623701"/>
                  </a:lnTo>
                  <a:lnTo>
                    <a:pt x="4722055" y="1589380"/>
                  </a:lnTo>
                  <a:lnTo>
                    <a:pt x="4754294" y="1557141"/>
                  </a:lnTo>
                  <a:lnTo>
                    <a:pt x="4788615" y="1527098"/>
                  </a:lnTo>
                  <a:lnTo>
                    <a:pt x="4824902" y="1499368"/>
                  </a:lnTo>
                  <a:lnTo>
                    <a:pt x="4863039" y="1474067"/>
                  </a:lnTo>
                  <a:lnTo>
                    <a:pt x="4902911" y="1451309"/>
                  </a:lnTo>
                  <a:lnTo>
                    <a:pt x="4944402" y="1431211"/>
                  </a:lnTo>
                  <a:lnTo>
                    <a:pt x="4987397" y="1413887"/>
                  </a:lnTo>
                  <a:lnTo>
                    <a:pt x="5031779" y="1399454"/>
                  </a:lnTo>
                  <a:lnTo>
                    <a:pt x="5077435" y="1388027"/>
                  </a:lnTo>
                  <a:lnTo>
                    <a:pt x="5124246" y="1379722"/>
                  </a:lnTo>
                  <a:lnTo>
                    <a:pt x="5172100" y="1374654"/>
                  </a:lnTo>
                  <a:lnTo>
                    <a:pt x="5220878" y="1372939"/>
                  </a:lnTo>
                  <a:lnTo>
                    <a:pt x="5270070" y="1374712"/>
                  </a:lnTo>
                  <a:lnTo>
                    <a:pt x="5318722" y="1379981"/>
                  </a:lnTo>
                  <a:lnTo>
                    <a:pt x="5366661" y="1388676"/>
                  </a:lnTo>
                  <a:lnTo>
                    <a:pt x="5413715" y="1400725"/>
                  </a:lnTo>
                  <a:lnTo>
                    <a:pt x="5459712" y="1416057"/>
                  </a:lnTo>
                  <a:lnTo>
                    <a:pt x="5504480" y="1434600"/>
                  </a:lnTo>
                  <a:lnTo>
                    <a:pt x="5547847" y="1456284"/>
                  </a:lnTo>
                  <a:lnTo>
                    <a:pt x="5589639" y="1481036"/>
                  </a:lnTo>
                  <a:lnTo>
                    <a:pt x="5629685" y="1508786"/>
                  </a:lnTo>
                  <a:lnTo>
                    <a:pt x="5667813" y="1539462"/>
                  </a:lnTo>
                  <a:lnTo>
                    <a:pt x="5703850" y="1572993"/>
                  </a:lnTo>
                  <a:lnTo>
                    <a:pt x="5737381" y="1609030"/>
                  </a:lnTo>
                  <a:lnTo>
                    <a:pt x="5768057" y="1647158"/>
                  </a:lnTo>
                  <a:lnTo>
                    <a:pt x="5795807" y="1687204"/>
                  </a:lnTo>
                  <a:lnTo>
                    <a:pt x="5820559" y="1728996"/>
                  </a:lnTo>
                  <a:lnTo>
                    <a:pt x="5842243" y="1772362"/>
                  </a:lnTo>
                  <a:lnTo>
                    <a:pt x="5860786" y="1817130"/>
                  </a:lnTo>
                  <a:lnTo>
                    <a:pt x="5876118" y="1863128"/>
                  </a:lnTo>
                  <a:lnTo>
                    <a:pt x="5888167" y="1910182"/>
                  </a:lnTo>
                  <a:lnTo>
                    <a:pt x="5896862" y="1958121"/>
                  </a:lnTo>
                  <a:lnTo>
                    <a:pt x="5902131" y="2006773"/>
                  </a:lnTo>
                  <a:lnTo>
                    <a:pt x="5903903" y="2055964"/>
                  </a:lnTo>
                  <a:lnTo>
                    <a:pt x="5902189" y="2104743"/>
                  </a:lnTo>
                  <a:lnTo>
                    <a:pt x="5897121" y="2152597"/>
                  </a:lnTo>
                  <a:lnTo>
                    <a:pt x="5888816" y="2199408"/>
                  </a:lnTo>
                  <a:lnTo>
                    <a:pt x="5877389" y="2245064"/>
                  </a:lnTo>
                  <a:lnTo>
                    <a:pt x="5862956" y="2289446"/>
                  </a:lnTo>
                  <a:lnTo>
                    <a:pt x="5845632" y="2332441"/>
                  </a:lnTo>
                  <a:lnTo>
                    <a:pt x="5825534" y="2373932"/>
                  </a:lnTo>
                  <a:lnTo>
                    <a:pt x="5802776" y="2413804"/>
                  </a:lnTo>
                  <a:lnTo>
                    <a:pt x="5777475" y="2451941"/>
                  </a:lnTo>
                  <a:lnTo>
                    <a:pt x="5749745" y="2488228"/>
                  </a:lnTo>
                  <a:lnTo>
                    <a:pt x="5719702" y="2522549"/>
                  </a:lnTo>
                  <a:lnTo>
                    <a:pt x="5687463" y="2554788"/>
                  </a:lnTo>
                  <a:lnTo>
                    <a:pt x="5653142" y="2584831"/>
                  </a:lnTo>
                  <a:lnTo>
                    <a:pt x="5616855" y="2612561"/>
                  </a:lnTo>
                  <a:lnTo>
                    <a:pt x="5578718" y="2637862"/>
                  </a:lnTo>
                  <a:lnTo>
                    <a:pt x="5538846" y="2660620"/>
                  </a:lnTo>
                  <a:lnTo>
                    <a:pt x="5497355" y="2680718"/>
                  </a:lnTo>
                  <a:lnTo>
                    <a:pt x="5454360" y="2698042"/>
                  </a:lnTo>
                  <a:lnTo>
                    <a:pt x="5409978" y="2712475"/>
                  </a:lnTo>
                  <a:lnTo>
                    <a:pt x="5364322" y="2723902"/>
                  </a:lnTo>
                  <a:lnTo>
                    <a:pt x="5317511" y="2732207"/>
                  </a:lnTo>
                  <a:lnTo>
                    <a:pt x="5269657" y="2737275"/>
                  </a:lnTo>
                  <a:lnTo>
                    <a:pt x="5220878" y="2738989"/>
                  </a:lnTo>
                  <a:lnTo>
                    <a:pt x="5172100" y="2737275"/>
                  </a:lnTo>
                  <a:lnTo>
                    <a:pt x="5124246" y="2732207"/>
                  </a:lnTo>
                  <a:lnTo>
                    <a:pt x="5077435" y="2723902"/>
                  </a:lnTo>
                  <a:lnTo>
                    <a:pt x="5031779" y="2712475"/>
                  </a:lnTo>
                  <a:lnTo>
                    <a:pt x="4987397" y="2698042"/>
                  </a:lnTo>
                  <a:lnTo>
                    <a:pt x="4944402" y="2680718"/>
                  </a:lnTo>
                  <a:lnTo>
                    <a:pt x="4902911" y="2660620"/>
                  </a:lnTo>
                  <a:lnTo>
                    <a:pt x="4863039" y="2637862"/>
                  </a:lnTo>
                  <a:lnTo>
                    <a:pt x="4824902" y="2612561"/>
                  </a:lnTo>
                  <a:lnTo>
                    <a:pt x="4788615" y="2584831"/>
                  </a:lnTo>
                  <a:lnTo>
                    <a:pt x="4754294" y="2554788"/>
                  </a:lnTo>
                  <a:lnTo>
                    <a:pt x="4722055" y="2522549"/>
                  </a:lnTo>
                  <a:lnTo>
                    <a:pt x="4692012" y="2488228"/>
                  </a:lnTo>
                  <a:lnTo>
                    <a:pt x="4664282" y="2451941"/>
                  </a:lnTo>
                  <a:lnTo>
                    <a:pt x="4638981" y="2413804"/>
                  </a:lnTo>
                  <a:lnTo>
                    <a:pt x="4616223" y="2373932"/>
                  </a:lnTo>
                  <a:lnTo>
                    <a:pt x="4596125" y="2332441"/>
                  </a:lnTo>
                  <a:lnTo>
                    <a:pt x="4578801" y="2289446"/>
                  </a:lnTo>
                  <a:lnTo>
                    <a:pt x="4564368" y="2245064"/>
                  </a:lnTo>
                  <a:lnTo>
                    <a:pt x="4552941" y="2199408"/>
                  </a:lnTo>
                  <a:lnTo>
                    <a:pt x="4544636" y="2152597"/>
                  </a:lnTo>
                  <a:lnTo>
                    <a:pt x="4539568" y="2104743"/>
                  </a:lnTo>
                  <a:lnTo>
                    <a:pt x="4537853" y="2055964"/>
                  </a:lnTo>
                  <a:close/>
                </a:path>
                <a:path extrusionOk="0" h="4112259" w="5904230">
                  <a:moveTo>
                    <a:pt x="4537853" y="3428904"/>
                  </a:moveTo>
                  <a:lnTo>
                    <a:pt x="4539568" y="3380126"/>
                  </a:lnTo>
                  <a:lnTo>
                    <a:pt x="4544636" y="3332272"/>
                  </a:lnTo>
                  <a:lnTo>
                    <a:pt x="4552941" y="3285460"/>
                  </a:lnTo>
                  <a:lnTo>
                    <a:pt x="4564368" y="3239805"/>
                  </a:lnTo>
                  <a:lnTo>
                    <a:pt x="4578801" y="3195423"/>
                  </a:lnTo>
                  <a:lnTo>
                    <a:pt x="4596125" y="3152428"/>
                  </a:lnTo>
                  <a:lnTo>
                    <a:pt x="4616223" y="3110937"/>
                  </a:lnTo>
                  <a:lnTo>
                    <a:pt x="4638981" y="3071065"/>
                  </a:lnTo>
                  <a:lnTo>
                    <a:pt x="4664282" y="3032928"/>
                  </a:lnTo>
                  <a:lnTo>
                    <a:pt x="4692012" y="2996641"/>
                  </a:lnTo>
                  <a:lnTo>
                    <a:pt x="4722055" y="2962320"/>
                  </a:lnTo>
                  <a:lnTo>
                    <a:pt x="4754294" y="2930080"/>
                  </a:lnTo>
                  <a:lnTo>
                    <a:pt x="4788615" y="2900038"/>
                  </a:lnTo>
                  <a:lnTo>
                    <a:pt x="4824902" y="2872308"/>
                  </a:lnTo>
                  <a:lnTo>
                    <a:pt x="4863039" y="2847007"/>
                  </a:lnTo>
                  <a:lnTo>
                    <a:pt x="4902911" y="2824249"/>
                  </a:lnTo>
                  <a:lnTo>
                    <a:pt x="4944402" y="2804150"/>
                  </a:lnTo>
                  <a:lnTo>
                    <a:pt x="4987397" y="2786827"/>
                  </a:lnTo>
                  <a:lnTo>
                    <a:pt x="5031779" y="2772394"/>
                  </a:lnTo>
                  <a:lnTo>
                    <a:pt x="5077435" y="2760967"/>
                  </a:lnTo>
                  <a:lnTo>
                    <a:pt x="5124246" y="2752662"/>
                  </a:lnTo>
                  <a:lnTo>
                    <a:pt x="5172100" y="2747594"/>
                  </a:lnTo>
                  <a:lnTo>
                    <a:pt x="5220878" y="2745879"/>
                  </a:lnTo>
                  <a:lnTo>
                    <a:pt x="5270070" y="2747652"/>
                  </a:lnTo>
                  <a:lnTo>
                    <a:pt x="5318722" y="2752921"/>
                  </a:lnTo>
                  <a:lnTo>
                    <a:pt x="5366661" y="2761616"/>
                  </a:lnTo>
                  <a:lnTo>
                    <a:pt x="5413715" y="2773665"/>
                  </a:lnTo>
                  <a:lnTo>
                    <a:pt x="5459712" y="2788997"/>
                  </a:lnTo>
                  <a:lnTo>
                    <a:pt x="5504480" y="2807540"/>
                  </a:lnTo>
                  <a:lnTo>
                    <a:pt x="5547847" y="2829224"/>
                  </a:lnTo>
                  <a:lnTo>
                    <a:pt x="5589639" y="2853976"/>
                  </a:lnTo>
                  <a:lnTo>
                    <a:pt x="5629685" y="2881726"/>
                  </a:lnTo>
                  <a:lnTo>
                    <a:pt x="5667813" y="2912402"/>
                  </a:lnTo>
                  <a:lnTo>
                    <a:pt x="5703850" y="2945933"/>
                  </a:lnTo>
                  <a:lnTo>
                    <a:pt x="5737381" y="2981970"/>
                  </a:lnTo>
                  <a:lnTo>
                    <a:pt x="5768057" y="3020098"/>
                  </a:lnTo>
                  <a:lnTo>
                    <a:pt x="5795807" y="3060144"/>
                  </a:lnTo>
                  <a:lnTo>
                    <a:pt x="5820559" y="3101936"/>
                  </a:lnTo>
                  <a:lnTo>
                    <a:pt x="5842243" y="3145303"/>
                  </a:lnTo>
                  <a:lnTo>
                    <a:pt x="5860786" y="3190071"/>
                  </a:lnTo>
                  <a:lnTo>
                    <a:pt x="5876118" y="3236068"/>
                  </a:lnTo>
                  <a:lnTo>
                    <a:pt x="5888167" y="3283122"/>
                  </a:lnTo>
                  <a:lnTo>
                    <a:pt x="5896862" y="3331061"/>
                  </a:lnTo>
                  <a:lnTo>
                    <a:pt x="5902131" y="3379713"/>
                  </a:lnTo>
                  <a:lnTo>
                    <a:pt x="5903903" y="3428904"/>
                  </a:lnTo>
                  <a:lnTo>
                    <a:pt x="5902189" y="3477683"/>
                  </a:lnTo>
                  <a:lnTo>
                    <a:pt x="5897121" y="3525537"/>
                  </a:lnTo>
                  <a:lnTo>
                    <a:pt x="5888816" y="3572349"/>
                  </a:lnTo>
                  <a:lnTo>
                    <a:pt x="5877389" y="3618004"/>
                  </a:lnTo>
                  <a:lnTo>
                    <a:pt x="5862956" y="3662386"/>
                  </a:lnTo>
                  <a:lnTo>
                    <a:pt x="5845632" y="3705381"/>
                  </a:lnTo>
                  <a:lnTo>
                    <a:pt x="5825534" y="3746872"/>
                  </a:lnTo>
                  <a:lnTo>
                    <a:pt x="5802776" y="3786744"/>
                  </a:lnTo>
                  <a:lnTo>
                    <a:pt x="5777475" y="3824881"/>
                  </a:lnTo>
                  <a:lnTo>
                    <a:pt x="5749745" y="3861168"/>
                  </a:lnTo>
                  <a:lnTo>
                    <a:pt x="5719702" y="3895489"/>
                  </a:lnTo>
                  <a:lnTo>
                    <a:pt x="5687463" y="3927729"/>
                  </a:lnTo>
                  <a:lnTo>
                    <a:pt x="5653142" y="3957771"/>
                  </a:lnTo>
                  <a:lnTo>
                    <a:pt x="5616855" y="3985501"/>
                  </a:lnTo>
                  <a:lnTo>
                    <a:pt x="5578718" y="4010802"/>
                  </a:lnTo>
                  <a:lnTo>
                    <a:pt x="5538846" y="4033560"/>
                  </a:lnTo>
                  <a:lnTo>
                    <a:pt x="5497355" y="4053658"/>
                  </a:lnTo>
                  <a:lnTo>
                    <a:pt x="5454360" y="4070982"/>
                  </a:lnTo>
                  <a:lnTo>
                    <a:pt x="5409978" y="4085415"/>
                  </a:lnTo>
                  <a:lnTo>
                    <a:pt x="5364322" y="4096842"/>
                  </a:lnTo>
                  <a:lnTo>
                    <a:pt x="5317511" y="4105147"/>
                  </a:lnTo>
                  <a:lnTo>
                    <a:pt x="5269657" y="4110215"/>
                  </a:lnTo>
                  <a:lnTo>
                    <a:pt x="5220878" y="4111929"/>
                  </a:lnTo>
                  <a:lnTo>
                    <a:pt x="5172100" y="4110215"/>
                  </a:lnTo>
                  <a:lnTo>
                    <a:pt x="5124246" y="4105147"/>
                  </a:lnTo>
                  <a:lnTo>
                    <a:pt x="5077435" y="4096842"/>
                  </a:lnTo>
                  <a:lnTo>
                    <a:pt x="5031779" y="4085415"/>
                  </a:lnTo>
                  <a:lnTo>
                    <a:pt x="4987397" y="4070982"/>
                  </a:lnTo>
                  <a:lnTo>
                    <a:pt x="4944402" y="4053658"/>
                  </a:lnTo>
                  <a:lnTo>
                    <a:pt x="4902911" y="4033560"/>
                  </a:lnTo>
                  <a:lnTo>
                    <a:pt x="4863039" y="4010802"/>
                  </a:lnTo>
                  <a:lnTo>
                    <a:pt x="4824902" y="3985501"/>
                  </a:lnTo>
                  <a:lnTo>
                    <a:pt x="4788615" y="3957771"/>
                  </a:lnTo>
                  <a:lnTo>
                    <a:pt x="4754294" y="3927729"/>
                  </a:lnTo>
                  <a:lnTo>
                    <a:pt x="4722055" y="3895489"/>
                  </a:lnTo>
                  <a:lnTo>
                    <a:pt x="4692012" y="3861168"/>
                  </a:lnTo>
                  <a:lnTo>
                    <a:pt x="4664282" y="3824881"/>
                  </a:lnTo>
                  <a:lnTo>
                    <a:pt x="4638981" y="3786744"/>
                  </a:lnTo>
                  <a:lnTo>
                    <a:pt x="4616223" y="3746872"/>
                  </a:lnTo>
                  <a:lnTo>
                    <a:pt x="4596125" y="3705381"/>
                  </a:lnTo>
                  <a:lnTo>
                    <a:pt x="4578801" y="3662386"/>
                  </a:lnTo>
                  <a:lnTo>
                    <a:pt x="4564368" y="3618004"/>
                  </a:lnTo>
                  <a:lnTo>
                    <a:pt x="4552941" y="3572349"/>
                  </a:lnTo>
                  <a:lnTo>
                    <a:pt x="4544636" y="3525537"/>
                  </a:lnTo>
                  <a:lnTo>
                    <a:pt x="4539568" y="3477683"/>
                  </a:lnTo>
                  <a:lnTo>
                    <a:pt x="4537853" y="3428904"/>
                  </a:lnTo>
                  <a:close/>
                </a:path>
              </a:pathLst>
            </a:custGeom>
            <a:noFill/>
            <a:ln cap="flat" cmpd="sng" w="12675">
              <a:solidFill>
                <a:srgbClr val="00C1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11" name="Google Shape;21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88348" y="5554432"/>
              <a:ext cx="842090" cy="8484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28537" y="858862"/>
              <a:ext cx="4696692" cy="34598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33"/>
          <p:cNvSpPr txBox="1"/>
          <p:nvPr>
            <p:ph type="title"/>
          </p:nvPr>
        </p:nvSpPr>
        <p:spPr>
          <a:xfrm>
            <a:off x="565550" y="809563"/>
            <a:ext cx="2346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THANK YOU!</a:t>
            </a:r>
            <a:endParaRPr sz="3200"/>
          </a:p>
        </p:txBody>
      </p:sp>
      <p:sp>
        <p:nvSpPr>
          <p:cNvPr id="214" name="Google Shape;214;p33"/>
          <p:cNvSpPr txBox="1"/>
          <p:nvPr/>
        </p:nvSpPr>
        <p:spPr>
          <a:xfrm>
            <a:off x="565550" y="2724795"/>
            <a:ext cx="7407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700">
            <a:spAutoFit/>
          </a:bodyPr>
          <a:lstStyle/>
          <a:p>
            <a:pPr indent="0" lvl="0" marL="127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C1D4"/>
                </a:solidFill>
                <a:latin typeface="Arial Black"/>
                <a:ea typeface="Arial Black"/>
                <a:cs typeface="Arial Black"/>
                <a:sym typeface="Arial Black"/>
              </a:rPr>
              <a:t>Divyam Jain</a:t>
            </a:r>
            <a:endParaRPr sz="9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8/hyperlinkcolor">
  <ns0:cSld>
    <ns0:spTree>
      <ns0:nvGrpSpPr>
        <ns0:cNvPr id="218" name="Shape 218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9" name="Google Shape;219;p34"/>
          <ns0:cNvSpPr txBox="1"/>
          <ns0:nvPr>
            <ns0:ph type="title"/>
          </ns0:nvPr>
        </ns0:nvSpPr>
        <ns0:spPr>
          <ns1:xfrm>
            <ns1:off x="338213" y="321768"/>
            <ns1:ext cx="7658329" cy="38966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89050">
            <ns1:spAutoFit/>
          </ns1:bodyPr>
          <ns1:lstStyle/>
          <ns1:p>
            <ns1:pPr indent="0" lvl="0" marL="24130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"/>
              <ns1:t>Selected References</ns1:t>
            </ns1:r>
            <ns1:endParaRPr/>
          </ns1:p>
        </ns0:txBody>
      </ns0:sp>
      <ns0:sp>
        <ns0:nvSpPr>
          <ns0:cNvPr id="220" name="Google Shape;220;p34"/>
          <ns0:cNvSpPr txBox="1"/>
          <ns0:nvPr/>
        </ns0:nvSpPr>
        <ns0:spPr>
          <ns1:xfrm>
            <ns1:off x="403816" y="1091008"/>
            <ns1:ext cx="8278800" cy="37755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0" lIns="0" spcFirstLastPara="1" rIns="0" wrap="square" tIns="9525">
            <ns1:spAutoFit/>
          </ns1:bodyPr>
          <ns1:lstStyle/>
          <ns1:p>
            <ns1:pPr indent="-317500" lvl="0" marL="457200" marR="0" rtl="0" algn="l">
              <ns1:lnSpc>
                <ns1:spcPct val="100000"/>
              </ns1:lnSpc>
              <ns1:spcBef>
                <ns1:spcPts val="10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3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>Zhou et al. (2024). Unisolver: PDE-Conditional Transformers Are Universal PDE Solvers. arXiv:2405.17527.</ns1:t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4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5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6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7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 u="sng">
                <ns1:solidFill>
                  <ns1:schemeClr val="hlink"/>
                </ns1:solidFill>
                <ns1:hlinkClick ns2:id="rId8"/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9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endParaRPr b="1"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0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b="1" i="1" lang="en">
                <ns1:solidFill>
                  <ns1:srgbClr val="265D71"/>
                </ns1:solidFill>
                <ns1:uFill>
                  <ns1:noFill/>
                </ns1:uFill>
                <ns1:hlinkClick ns2:id="rId10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>Zhou et al. (2025). Text2PDE: Latent Diffusion Models for Accessible Physics Simulation. ICLR.</ns1:t>
            </ns1:r>
            <ns1:r>
              <ns1:rPr b="1" i="1" lang="en">
                <ns1:solidFill>
                  <ns1:srgbClr val="265D71"/>
                </ns1:solidFill>
              </ns1:rPr>
              <ns1:t/>
            </ns1:r>
            <ns1:r>
              <ns1:rPr b="1" i="1" lang="en">
                <ns1:solidFill>
                  <ns1:srgbClr val="265D71"/>
                </ns1:solidFill>
                <ns1:uFill>
                  <ns1:noFill/>
                </ns1:uFill>
                <ns1:hlinkClick ns2:id="rId11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i="1" lang="en">
                <ns1:solidFill>
                  <ns1:srgbClr val="265D71"/>
                </ns1:solidFill>
              </ns1:rPr>
              <ns1:t/>
            </ns1:r>
            <ns1:r>
              <ns1:rPr b="1" i="1" lang="en">
                <ns1:solidFill>
                  <ns1:srgbClr val="265D71"/>
                </ns1:solidFill>
                <ns1:uFill>
                  <ns1:noFill/>
                </ns1:uFill>
                <ns1:hlinkClick ns2:id="rId12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i="1" lang="en">
                <ns1:solidFill>
                  <ns1:srgbClr val="265D71"/>
                </ns1:solidFill>
              </ns1:rPr>
              <ns1:t/>
            </ns1:r>
            <ns1:r>
              <ns1:rPr b="1" i="1" lang="en">
                <ns1:solidFill>
                  <ns1:srgbClr val="265D71"/>
                </ns1:solidFill>
                <ns1:uFill>
                  <ns1:noFill/>
                </ns1:uFill>
                <ns1:hlinkClick ns2:id="rId13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i="1" lang="en">
                <ns1:solidFill>
                  <ns1:srgbClr val="265D71"/>
                </ns1:solidFill>
              </ns1:rPr>
              <ns1:t/>
            </ns1:r>
            <ns1:r>
              <ns1:rPr b="1" i="1" lang="en">
                <ns1:solidFill>
                  <ns1:srgbClr val="265D71"/>
                </ns1:solidFill>
                <ns1:uFill>
                  <ns1:noFill/>
                </ns1:uFill>
                <ns1:hlinkClick ns2:id="rId14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 u="sng">
                <ns1:solidFill>
                  <ns1:schemeClr val="hlink"/>
                </ns1:solidFill>
                <ns1:hlinkClick ns2:id="rId15"/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>
                <ns1:solidFill>
                  <ns1:srgbClr val="265D71"/>
                </ns1:solidFill>
                <ns1:highlight>
                  <ns1:srgbClr val="FFFDFA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endParaRPr b="1"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0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16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>Brandstetter et al. (2022). Message Passing Neural PDE Solvers. ICLR.</ns1:t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17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 u="sng">
                <ns1:solidFill>
                  <ns1:schemeClr val="hlink"/>
                </ns1:solidFill>
                <ns1:hlinkClick ns2:id="rId18"/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endParaRPr b="1"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0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b="1" lang="en">
                <ns1:solidFill>
                  <ns1:srgbClr val="265D71"/>
                </ns1:solidFill>
              </ns1:rPr>
              <ns1:t>Lorsung and Barati Farimani (2024). Explain Like I'm Five: Using LLMs to Improve PDE Surrogate Models with Text. arXiv:2410.01137.</ns1:t>
            </ns1:r>
            <ns1:r>
              <ns1:rPr b="1" lang="en" u="sng">
                <ns1:solidFill>
                  <ns1:schemeClr val="hlink"/>
                </ns1:solidFill>
                <ns1:hlinkClick ns2:id="rId19"/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endParaRPr b="1"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0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20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>Wuwu et al. (2025). PINNsAgent: Automated PDE Surrogation with Large Language Models. ICML.</ns1:t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21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 u="sng">
                <ns1:solidFill>
                  <ns1:schemeClr val="hlink"/>
                </ns1:solidFill>
                <ns1:hlinkClick ns2:id="rId22"/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23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endParaRPr b="1">
              <ns1:solidFill>
                <ns1:srgbClr val="265D71"/>
              </ns1:solidFill>
            </ns1:endParaRPr>
          </ns1:p>
          <ns1:p>
            <ns1:pPr indent="-317500" lvl="0" marL="457200" rtl="0" algn="l">
              <ns1:lnSpc>
                <ns1:spcPct val="115000"/>
              </ns1:lnSpc>
              <ns1:spcBef>
                <ns1:spcPts val="1000"/>
              </ns1:spcBef>
              <ns1:spcAft>
                <ns1:spcPts val="0"/>
              </ns1:spcAft>
              <ns1:buClr>
                <ns1:srgbClr val="265D71"/>
              </ns1:buClr>
              <ns1:buSzPts val="1400"/>
              <ns1:buChar char="●"/>
            </ns1:pP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24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>Li et al. (2025). CodePDE: An Inference Framework for LLM-driven PDE Solver Generation. arXiv:2505.08783.</ns1:t>
            </ns1:r>
            <ns1:r>
              <ns1:rPr b="1" lang="en">
                <ns1:solidFill>
                  <ns1:srgbClr val="265D71"/>
                </ns1:solidFill>
                <ns1:highlight>
                  <ns1:srgbClr val="FFFFFF"/>
                </ns1:highlight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25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 u="sng">
                <ns1:solidFill>
                  <ns1:schemeClr val="hlink"/>
                </ns1:solidFill>
                <ns1:hlinkClick ns2:id="rId26"/>
              </ns1:rPr>
              <ns1:t/>
            </ns1:r>
            <ns1:r>
              <ns1:rPr b="1" lang="en">
                <ns1:solidFill>
                  <ns1:srgbClr val="265D71"/>
                </ns1:solidFill>
              </ns1:rPr>
              <ns1:t/>
            </ns1:r>
            <ns1:r>
              <ns1:rPr b="1" lang="en">
                <ns1:solidFill>
                  <ns1:srgbClr val="265D71"/>
                </ns1:solidFill>
                <ns1:uFill>
                  <ns1:noFill/>
                </ns1:uFill>
                <ns1:hlinkClick ns2:id="rId27">
                  <ns1:extLst>
                    <ns1:ext uri="{A12FA001-AC4F-418D-AE19-62706E023703}">
                      <ns3:hlinkClr val="tx"/>
                    </ns1:ext>
                  </ns1:extLst>
                </ns1:hlinkClick>
              </ns1:rPr>
              <ns1:t/>
            </ns1:r>
            <ns1:endParaRPr b="1">
              <ns1:solidFill>
                <ns1:srgbClr val="265D71"/>
              </ns1:solidFill>
            </ns1:endParaRP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65D7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